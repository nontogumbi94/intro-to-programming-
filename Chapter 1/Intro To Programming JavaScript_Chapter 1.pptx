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embeddedFontLst>
    <p:embeddedFont>
      <p:font typeface="Nunito" panose="020B0604020202020204" charset="0"/>
      <p:regular r:id="rId12"/>
      <p:bold r:id="rId13"/>
      <p:italic r:id="rId14"/>
      <p:boldItalic r:id="rId15"/>
    </p:embeddedFont>
    <p:embeddedFont>
      <p:font typeface="Playfair Display" panose="020B0604020202020204" charset="0"/>
      <p:regular r:id="rId16"/>
      <p:bold r:id="rId17"/>
      <p:italic r:id="rId18"/>
      <p:boldItalic r:id="rId19"/>
    </p:embeddedFont>
    <p:embeddedFont>
      <p:font typeface="Roboto" panose="020B060402020202020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4D79"/>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9034" autoAdjust="0"/>
    <p:restoredTop sz="94660"/>
  </p:normalViewPr>
  <p:slideViewPr>
    <p:cSldViewPr snapToGrid="0">
      <p:cViewPr varScale="1">
        <p:scale>
          <a:sx n="72" d="100"/>
          <a:sy n="72" d="100"/>
        </p:scale>
        <p:origin x="62" y="89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 name="Google Shape;16;p2"/>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17" name="Google Shape;17;p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grpSp>
        <p:nvGrpSpPr>
          <p:cNvPr id="19" name="Google Shape;19;p3"/>
          <p:cNvGrpSpPr/>
          <p:nvPr/>
        </p:nvGrpSpPr>
        <p:grpSpPr>
          <a:xfrm>
            <a:off x="0" y="3903669"/>
            <a:ext cx="9144000" cy="1239925"/>
            <a:chOff x="0" y="3903669"/>
            <a:chExt cx="9144000" cy="1239925"/>
          </a:xfrm>
        </p:grpSpPr>
        <p:sp>
          <p:nvSpPr>
            <p:cNvPr id="20" name="Google Shape;20;p3"/>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 name="Google Shape;25;p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6" name="Google Shape;26;p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30"/>
        <p:cNvGrpSpPr/>
        <p:nvPr/>
      </p:nvGrpSpPr>
      <p:grpSpPr>
        <a:xfrm>
          <a:off x="0" y="0"/>
          <a:ext cx="0" cy="0"/>
          <a:chOff x="0" y="0"/>
          <a:chExt cx="0" cy="0"/>
        </a:xfrm>
      </p:grpSpPr>
      <p:grpSp>
        <p:nvGrpSpPr>
          <p:cNvPr id="31" name="Google Shape;31;p5"/>
          <p:cNvGrpSpPr/>
          <p:nvPr/>
        </p:nvGrpSpPr>
        <p:grpSpPr>
          <a:xfrm>
            <a:off x="6098378" y="5"/>
            <a:ext cx="3045625" cy="2030570"/>
            <a:chOff x="6098378" y="5"/>
            <a:chExt cx="3045625" cy="2030570"/>
          </a:xfrm>
        </p:grpSpPr>
        <p:sp>
          <p:nvSpPr>
            <p:cNvPr id="32" name="Google Shape;32;p5"/>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5"/>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5"/>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5"/>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5"/>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7" name="Google Shape;37;p5"/>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38" name="Google Shape;38;p5"/>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39" name="Google Shape;39;p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0"/>
        <p:cNvGrpSpPr/>
        <p:nvPr/>
      </p:nvGrpSpPr>
      <p:grpSpPr>
        <a:xfrm>
          <a:off x="0" y="0"/>
          <a:ext cx="0" cy="0"/>
          <a:chOff x="0" y="0"/>
          <a:chExt cx="0" cy="0"/>
        </a:xfrm>
      </p:grpSpPr>
      <p:grpSp>
        <p:nvGrpSpPr>
          <p:cNvPr id="41" name="Google Shape;41;p6"/>
          <p:cNvGrpSpPr/>
          <p:nvPr/>
        </p:nvGrpSpPr>
        <p:grpSpPr>
          <a:xfrm>
            <a:off x="6098378" y="5"/>
            <a:ext cx="3045625" cy="2030570"/>
            <a:chOff x="6098378" y="5"/>
            <a:chExt cx="3045625" cy="2030570"/>
          </a:xfrm>
        </p:grpSpPr>
        <p:sp>
          <p:nvSpPr>
            <p:cNvPr id="42" name="Google Shape;42;p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7" name="Google Shape;47;p6"/>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48" name="Google Shape;48;p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51" name="Google Shape;51;p7"/>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2" name="Google Shape;52;p7"/>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3" name="Google Shape;53;p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56" name="Google Shape;56;p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9" name="Google Shape;59;p9"/>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0" name="Google Shape;60;p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0"/>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3" name="Google Shape;63;p10"/>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4" name="Google Shape;64;p10"/>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5" name="Google Shape;65;p10"/>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6" name="Google Shape;66;p10"/>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67" name="Google Shape;67;p1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8"/>
        <p:cNvGrpSpPr/>
        <p:nvPr/>
      </p:nvGrpSpPr>
      <p:grpSpPr>
        <a:xfrm>
          <a:off x="0" y="0"/>
          <a:ext cx="0" cy="0"/>
          <a:chOff x="0" y="0"/>
          <a:chExt cx="0" cy="0"/>
        </a:xfrm>
      </p:grpSpPr>
      <p:sp>
        <p:nvSpPr>
          <p:cNvPr id="69" name="Google Shape;69;p11"/>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70" name="Google Shape;70;p1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1"/>
        <p:cNvGrpSpPr/>
        <p:nvPr/>
      </p:nvGrpSpPr>
      <p:grpSpPr>
        <a:xfrm>
          <a:off x="0" y="0"/>
          <a:ext cx="0" cy="0"/>
          <a:chOff x="0" y="0"/>
          <a:chExt cx="0" cy="0"/>
        </a:xfrm>
      </p:grpSpPr>
      <p:grpSp>
        <p:nvGrpSpPr>
          <p:cNvPr id="72" name="Google Shape;72;p12"/>
          <p:cNvGrpSpPr/>
          <p:nvPr/>
        </p:nvGrpSpPr>
        <p:grpSpPr>
          <a:xfrm>
            <a:off x="6098378" y="5"/>
            <a:ext cx="3045625" cy="2030570"/>
            <a:chOff x="6098378" y="5"/>
            <a:chExt cx="3045625" cy="2030570"/>
          </a:xfrm>
        </p:grpSpPr>
        <p:sp>
          <p:nvSpPr>
            <p:cNvPr id="73" name="Google Shape;73;p1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8" name="Google Shape;78;p12"/>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12"/>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80" name="Google Shape;80;p1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patatap.com/"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1008550" y="612725"/>
            <a:ext cx="5618700" cy="4090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 sz="6000" b="1">
                <a:solidFill>
                  <a:srgbClr val="000000"/>
                </a:solidFill>
                <a:latin typeface="Playfair Display"/>
                <a:ea typeface="Playfair Display"/>
                <a:cs typeface="Playfair Display"/>
                <a:sym typeface="Playfair Display"/>
              </a:rPr>
              <a:t>Intro To Programming JavaScript</a:t>
            </a:r>
            <a:endParaRPr sz="6000" b="1">
              <a:solidFill>
                <a:srgbClr val="000000"/>
              </a:solidFill>
              <a:latin typeface="Playfair Display"/>
              <a:ea typeface="Playfair Display"/>
              <a:cs typeface="Playfair Display"/>
              <a:sym typeface="Playfair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62825" y="1452750"/>
            <a:ext cx="8174700" cy="22380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b="1" dirty="0">
                <a:solidFill>
                  <a:srgbClr val="000000"/>
                </a:solidFill>
                <a:latin typeface="Nunito"/>
                <a:ea typeface="Nunito"/>
                <a:cs typeface="Nunito"/>
                <a:sym typeface="Nunito"/>
              </a:rPr>
              <a:t>Brief Summary Of Chapter 1</a:t>
            </a:r>
            <a:endParaRPr b="1" dirty="0">
              <a:solidFill>
                <a:srgbClr val="000000"/>
              </a:solidFill>
              <a:latin typeface="Nunito"/>
              <a:ea typeface="Nunito"/>
              <a:cs typeface="Nunito"/>
              <a:sym typeface="Nunito"/>
            </a:endParaRPr>
          </a:p>
          <a:p>
            <a:pPr marL="457200" lvl="0" indent="-393700" algn="l" rtl="0">
              <a:lnSpc>
                <a:spcPct val="100000"/>
              </a:lnSpc>
              <a:spcBef>
                <a:spcPts val="0"/>
              </a:spcBef>
              <a:spcAft>
                <a:spcPts val="0"/>
              </a:spcAft>
              <a:buClr>
                <a:srgbClr val="000000"/>
              </a:buClr>
              <a:buSzPts val="2600"/>
              <a:buFont typeface="Nunito"/>
              <a:buChar char="●"/>
            </a:pPr>
            <a:r>
              <a:rPr lang="en" sz="2600" dirty="0">
                <a:solidFill>
                  <a:srgbClr val="000000"/>
                </a:solidFill>
                <a:latin typeface="Nunito"/>
                <a:ea typeface="Nunito"/>
                <a:cs typeface="Nunito"/>
                <a:sym typeface="Nunito"/>
              </a:rPr>
              <a:t>What is JavaScript</a:t>
            </a:r>
            <a:endParaRPr sz="2600" dirty="0">
              <a:solidFill>
                <a:srgbClr val="000000"/>
              </a:solidFill>
              <a:latin typeface="Nunito"/>
              <a:ea typeface="Nunito"/>
              <a:cs typeface="Nunito"/>
              <a:sym typeface="Nunito"/>
            </a:endParaRPr>
          </a:p>
          <a:p>
            <a:pPr marL="457200" lvl="0" indent="-393700" algn="l" rtl="0">
              <a:lnSpc>
                <a:spcPct val="100000"/>
              </a:lnSpc>
              <a:spcBef>
                <a:spcPts val="0"/>
              </a:spcBef>
              <a:spcAft>
                <a:spcPts val="0"/>
              </a:spcAft>
              <a:buClr>
                <a:srgbClr val="000000"/>
              </a:buClr>
              <a:buSzPts val="2600"/>
              <a:buFont typeface="Nunito"/>
              <a:buChar char="●"/>
            </a:pPr>
            <a:r>
              <a:rPr lang="en" sz="2600" dirty="0">
                <a:solidFill>
                  <a:srgbClr val="000000"/>
                </a:solidFill>
                <a:latin typeface="Nunito"/>
                <a:ea typeface="Nunito"/>
                <a:cs typeface="Nunito"/>
                <a:sym typeface="Nunito"/>
              </a:rPr>
              <a:t>JavaScript Syntax</a:t>
            </a:r>
            <a:endParaRPr sz="2600" dirty="0">
              <a:solidFill>
                <a:srgbClr val="000000"/>
              </a:solidFill>
              <a:latin typeface="Nunito"/>
              <a:ea typeface="Nunito"/>
              <a:cs typeface="Nunito"/>
              <a:sym typeface="Nunito"/>
            </a:endParaRPr>
          </a:p>
          <a:p>
            <a:pPr marL="457200" lvl="0" indent="-393700" algn="l" rtl="0">
              <a:lnSpc>
                <a:spcPct val="100000"/>
              </a:lnSpc>
              <a:spcBef>
                <a:spcPts val="0"/>
              </a:spcBef>
              <a:spcAft>
                <a:spcPts val="0"/>
              </a:spcAft>
              <a:buClr>
                <a:srgbClr val="000000"/>
              </a:buClr>
              <a:buSzPts val="2600"/>
              <a:buFont typeface="Nunito"/>
              <a:buChar char="●"/>
            </a:pPr>
            <a:r>
              <a:rPr lang="en-ZA" sz="2600" dirty="0">
                <a:solidFill>
                  <a:srgbClr val="000000"/>
                </a:solidFill>
                <a:latin typeface="Nunito"/>
                <a:ea typeface="Nunito"/>
                <a:cs typeface="Nunito"/>
                <a:sym typeface="Nunito"/>
              </a:rPr>
              <a:t>Writing </a:t>
            </a:r>
            <a:r>
              <a:rPr lang="en-ZA" sz="2600">
                <a:solidFill>
                  <a:srgbClr val="000000"/>
                </a:solidFill>
                <a:latin typeface="Nunito"/>
                <a:ea typeface="Nunito"/>
                <a:cs typeface="Nunito"/>
                <a:sym typeface="Nunito"/>
              </a:rPr>
              <a:t>Some JavaScript</a:t>
            </a:r>
            <a:endParaRPr sz="2600" dirty="0">
              <a:solidFill>
                <a:srgbClr val="000000"/>
              </a:solidFill>
              <a:latin typeface="Nunito"/>
              <a:ea typeface="Nunito"/>
              <a:cs typeface="Nunito"/>
              <a:sym typeface="Nunito"/>
            </a:endParaRPr>
          </a:p>
        </p:txBody>
      </p:sp>
      <p:sp>
        <p:nvSpPr>
          <p:cNvPr id="91" name="Google Shape;91;p14"/>
          <p:cNvSpPr txBox="1"/>
          <p:nvPr/>
        </p:nvSpPr>
        <p:spPr>
          <a:xfrm>
            <a:off x="0" y="0"/>
            <a:ext cx="9109200" cy="1060200"/>
          </a:xfrm>
          <a:prstGeom prst="rect">
            <a:avLst/>
          </a:prstGeom>
          <a:gradFill>
            <a:gsLst>
              <a:gs pos="0">
                <a:srgbClr val="F69FBC"/>
              </a:gs>
              <a:gs pos="100000">
                <a:srgbClr val="E32E6B"/>
              </a:gs>
            </a:gsLst>
            <a:lin ang="5400012" scaled="0"/>
          </a:gradFill>
          <a:ln>
            <a:noFill/>
          </a:ln>
        </p:spPr>
        <p:txBody>
          <a:bodyPr spcFirstLastPara="1" wrap="square" lIns="91425" tIns="45700" rIns="91425" bIns="45700" anchor="ctr" anchorCtr="0">
            <a:normAutofit lnSpcReduction="10000"/>
          </a:bodyPr>
          <a:lstStyle/>
          <a:p>
            <a:pPr marL="0" marR="0" lvl="0" indent="0" algn="ctr" rtl="0">
              <a:lnSpc>
                <a:spcPct val="115000"/>
              </a:lnSpc>
              <a:spcBef>
                <a:spcPts val="0"/>
              </a:spcBef>
              <a:spcAft>
                <a:spcPts val="0"/>
              </a:spcAft>
              <a:buClr>
                <a:srgbClr val="000000"/>
              </a:buClr>
              <a:buSzPts val="3000"/>
              <a:buFont typeface="Arial"/>
              <a:buNone/>
            </a:pPr>
            <a:r>
              <a:rPr lang="en" sz="3000" b="1" i="0" u="none" strike="noStrike" cap="none">
                <a:solidFill>
                  <a:srgbClr val="FFFFFF"/>
                </a:solidFill>
                <a:latin typeface="Nunito"/>
                <a:ea typeface="Nunito"/>
                <a:cs typeface="Nunito"/>
                <a:sym typeface="Nunito"/>
              </a:rPr>
              <a:t>Chapter 1:</a:t>
            </a:r>
            <a:br>
              <a:rPr lang="en" sz="3000" b="1" i="0" u="none" strike="noStrike" cap="none">
                <a:solidFill>
                  <a:srgbClr val="FFFFFF"/>
                </a:solidFill>
                <a:latin typeface="Nunito"/>
                <a:ea typeface="Nunito"/>
                <a:cs typeface="Nunito"/>
                <a:sym typeface="Nunito"/>
              </a:rPr>
            </a:br>
            <a:r>
              <a:rPr lang="en" sz="3000" b="1" i="0" u="none" strike="noStrike" cap="none">
                <a:solidFill>
                  <a:srgbClr val="FFFFFF"/>
                </a:solidFill>
                <a:latin typeface="Nunito"/>
                <a:ea typeface="Nunito"/>
                <a:cs typeface="Nunito"/>
                <a:sym typeface="Nunito"/>
              </a:rPr>
              <a:t>What is JavaScript?</a:t>
            </a:r>
            <a:endParaRPr sz="3000" b="1" i="0" u="sng" strike="noStrike" cap="none">
              <a:solidFill>
                <a:srgbClr val="FFFFFF"/>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180600" y="1210025"/>
            <a:ext cx="8810700" cy="18840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sz="2000" b="1" dirty="0">
                <a:solidFill>
                  <a:srgbClr val="000000"/>
                </a:solidFill>
                <a:latin typeface="Nunito"/>
                <a:ea typeface="Nunito"/>
                <a:cs typeface="Nunito"/>
                <a:sym typeface="Nunito"/>
              </a:rPr>
              <a:t>JavaScript is a programming language that makes websites do cool stuff like changing button colors, animating, checking forms, and making games. </a:t>
            </a:r>
            <a:endParaRPr sz="2000" b="1" dirty="0">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100" b="1" dirty="0">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544" b="1" dirty="0">
              <a:solidFill>
                <a:srgbClr val="000000"/>
              </a:solidFill>
              <a:latin typeface="Nunito"/>
              <a:ea typeface="Nunito"/>
              <a:cs typeface="Nunito"/>
              <a:sym typeface="Nunito"/>
            </a:endParaRPr>
          </a:p>
          <a:p>
            <a:pPr lvl="0"/>
            <a:r>
              <a:rPr lang="en" sz="2000" b="1" dirty="0">
                <a:solidFill>
                  <a:srgbClr val="000000"/>
                </a:solidFill>
                <a:latin typeface="Nunito"/>
                <a:ea typeface="Nunito"/>
                <a:cs typeface="Nunito"/>
                <a:sym typeface="Nunito"/>
              </a:rPr>
              <a:t>Your web browser runs JavaScript, which helps websites become more interactive and useful. </a:t>
            </a:r>
            <a:r>
              <a:rPr lang="en-ZA" sz="2000" b="1" dirty="0">
                <a:solidFill>
                  <a:srgbClr val="000000"/>
                </a:solidFill>
                <a:latin typeface="Nunito"/>
                <a:ea typeface="Nunito"/>
                <a:cs typeface="Nunito"/>
                <a:sym typeface="Nunito"/>
                <a:hlinkClick r:id="rId3"/>
              </a:rPr>
              <a:t>https://www.patatap.com/</a:t>
            </a:r>
            <a:br>
              <a:rPr lang="en-ZA" sz="2000" b="1" dirty="0">
                <a:solidFill>
                  <a:srgbClr val="000000"/>
                </a:solidFill>
                <a:latin typeface="Nunito"/>
                <a:ea typeface="Nunito"/>
                <a:cs typeface="Nunito"/>
                <a:sym typeface="Nunito"/>
                <a:hlinkClick r:id="rId3"/>
              </a:rPr>
            </a:br>
            <a:endParaRPr sz="2000" b="1" dirty="0">
              <a:solidFill>
                <a:srgbClr val="38761D"/>
              </a:solidFill>
              <a:latin typeface="Nunito"/>
              <a:ea typeface="Nunito"/>
              <a:cs typeface="Nunito"/>
              <a:sym typeface="Nunito"/>
            </a:endParaRPr>
          </a:p>
        </p:txBody>
      </p:sp>
      <p:sp>
        <p:nvSpPr>
          <p:cNvPr id="97" name="Google Shape;97;p15"/>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15000"/>
              </a:lnSpc>
              <a:spcBef>
                <a:spcPts val="0"/>
              </a:spcBef>
              <a:spcAft>
                <a:spcPts val="0"/>
              </a:spcAft>
              <a:buClr>
                <a:srgbClr val="000000"/>
              </a:buClr>
              <a:buSzPts val="3000"/>
              <a:buFont typeface="Arial"/>
              <a:buNone/>
            </a:pPr>
            <a:r>
              <a:rPr lang="en" sz="3000" b="1" i="0" u="none" strike="noStrike" cap="none">
                <a:solidFill>
                  <a:srgbClr val="FFFFFF"/>
                </a:solidFill>
                <a:latin typeface="Nunito"/>
                <a:ea typeface="Nunito"/>
                <a:cs typeface="Nunito"/>
                <a:sym typeface="Nunito"/>
              </a:rPr>
              <a:t>What is JavaScript?</a:t>
            </a:r>
            <a:endParaRPr sz="3000" b="1" i="0" u="sng" strike="noStrike" cap="none">
              <a:solidFill>
                <a:srgbClr val="FFFFFF"/>
              </a:solidFill>
              <a:latin typeface="Nunito"/>
              <a:ea typeface="Nunito"/>
              <a:cs typeface="Nunito"/>
              <a:sym typeface="Nunito"/>
            </a:endParaRPr>
          </a:p>
        </p:txBody>
      </p:sp>
      <p:pic>
        <p:nvPicPr>
          <p:cNvPr id="98" name="Google Shape;98;p15"/>
          <p:cNvPicPr preferRelativeResize="0"/>
          <p:nvPr/>
        </p:nvPicPr>
        <p:blipFill rotWithShape="1">
          <a:blip r:embed="rId4">
            <a:alphaModFix/>
          </a:blip>
          <a:srcRect/>
          <a:stretch/>
        </p:blipFill>
        <p:spPr>
          <a:xfrm>
            <a:off x="5951175" y="3406775"/>
            <a:ext cx="3192825" cy="1473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idx="4294967295"/>
          </p:nvPr>
        </p:nvSpPr>
        <p:spPr>
          <a:xfrm>
            <a:off x="0" y="688500"/>
            <a:ext cx="9144000" cy="6885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75436"/>
              <a:buNone/>
            </a:pPr>
            <a:r>
              <a:rPr lang="en" sz="1900" b="1">
                <a:solidFill>
                  <a:srgbClr val="000000"/>
                </a:solidFill>
                <a:latin typeface="Nunito"/>
                <a:ea typeface="Nunito"/>
                <a:cs typeface="Nunito"/>
                <a:sym typeface="Nunito"/>
              </a:rPr>
              <a:t>JavaScript has its own rules on how to write code, in other words it tells you how to write your code correctly so that computers can understand and execute it properly.</a:t>
            </a:r>
            <a:endParaRPr sz="1900" b="1">
              <a:solidFill>
                <a:srgbClr val="000000"/>
              </a:solidFill>
              <a:latin typeface="Nunito"/>
              <a:ea typeface="Nunito"/>
              <a:cs typeface="Nunito"/>
              <a:sym typeface="Nunito"/>
            </a:endParaRPr>
          </a:p>
        </p:txBody>
      </p:sp>
      <p:sp>
        <p:nvSpPr>
          <p:cNvPr id="104" name="Google Shape;104;p16"/>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15000"/>
              </a:lnSpc>
              <a:spcBef>
                <a:spcPts val="0"/>
              </a:spcBef>
              <a:spcAft>
                <a:spcPts val="0"/>
              </a:spcAft>
              <a:buClr>
                <a:srgbClr val="000000"/>
              </a:buClr>
              <a:buSzPts val="3000"/>
              <a:buFont typeface="Arial"/>
              <a:buNone/>
            </a:pPr>
            <a:r>
              <a:rPr lang="en" sz="3000" b="1" i="0" u="none" strike="noStrike" cap="none">
                <a:solidFill>
                  <a:srgbClr val="FFFFFF"/>
                </a:solidFill>
                <a:latin typeface="Nunito"/>
                <a:ea typeface="Nunito"/>
                <a:cs typeface="Nunito"/>
                <a:sym typeface="Nunito"/>
              </a:rPr>
              <a:t>JavaScript Syntax</a:t>
            </a:r>
            <a:endParaRPr sz="3000" b="1" i="0" u="sng" strike="noStrike" cap="none">
              <a:solidFill>
                <a:srgbClr val="FFFFFF"/>
              </a:solidFill>
              <a:latin typeface="Nunito"/>
              <a:ea typeface="Nunito"/>
              <a:cs typeface="Nunito"/>
              <a:sym typeface="Nunito"/>
            </a:endParaRPr>
          </a:p>
        </p:txBody>
      </p:sp>
      <p:sp>
        <p:nvSpPr>
          <p:cNvPr id="105" name="Google Shape;105;p16"/>
          <p:cNvSpPr txBox="1">
            <a:spLocks noGrp="1"/>
          </p:cNvSpPr>
          <p:nvPr>
            <p:ph type="title" idx="4294967295"/>
          </p:nvPr>
        </p:nvSpPr>
        <p:spPr>
          <a:xfrm>
            <a:off x="0" y="1377000"/>
            <a:ext cx="9144000" cy="376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sz="1500" b="1" dirty="0">
                <a:solidFill>
                  <a:srgbClr val="A64D79"/>
                </a:solidFill>
                <a:latin typeface="Nunito"/>
                <a:ea typeface="Nunito"/>
                <a:cs typeface="Nunito"/>
                <a:sym typeface="Nunito"/>
              </a:rPr>
              <a:t>Parentheses (): </a:t>
            </a:r>
            <a:endParaRPr sz="1500" b="1" dirty="0">
              <a:solidFill>
                <a:srgbClr val="A64D79"/>
              </a:solidFill>
              <a:latin typeface="Nunito"/>
              <a:ea typeface="Nunito"/>
              <a:cs typeface="Nunito"/>
              <a:sym typeface="Nunito"/>
            </a:endParaRPr>
          </a:p>
          <a:p>
            <a:pPr marL="457200" lvl="0" indent="-323850" algn="l" rtl="0">
              <a:lnSpc>
                <a:spcPct val="100000"/>
              </a:lnSpc>
              <a:spcBef>
                <a:spcPts val="0"/>
              </a:spcBef>
              <a:spcAft>
                <a:spcPts val="0"/>
              </a:spcAft>
              <a:buClr>
                <a:srgbClr val="000000"/>
              </a:buClr>
              <a:buSzPts val="1500"/>
              <a:buFont typeface="Nunito"/>
              <a:buChar char="●"/>
            </a:pPr>
            <a:r>
              <a:rPr lang="en" sz="1500" dirty="0">
                <a:solidFill>
                  <a:srgbClr val="000000"/>
                </a:solidFill>
                <a:latin typeface="Nunito"/>
                <a:ea typeface="Nunito"/>
                <a:cs typeface="Nunito"/>
                <a:sym typeface="Nunito"/>
              </a:rPr>
              <a:t>Used to group expressions and arguments. For example, they are used in function calls and control structures like if statements.</a:t>
            </a:r>
            <a:endParaRPr sz="1500" dirty="0">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r>
              <a:rPr lang="en" sz="1500" b="1" dirty="0">
                <a:solidFill>
                  <a:srgbClr val="A64D79"/>
                </a:solidFill>
                <a:latin typeface="Nunito"/>
                <a:ea typeface="Nunito"/>
                <a:cs typeface="Nunito"/>
                <a:sym typeface="Nunito"/>
              </a:rPr>
              <a:t>Semicolons (;): </a:t>
            </a:r>
            <a:endParaRPr sz="1500" b="1" dirty="0">
              <a:solidFill>
                <a:srgbClr val="A64D79"/>
              </a:solidFill>
              <a:latin typeface="Nunito"/>
              <a:ea typeface="Nunito"/>
              <a:cs typeface="Nunito"/>
              <a:sym typeface="Nunito"/>
            </a:endParaRPr>
          </a:p>
          <a:p>
            <a:pPr marL="457200" lvl="0" indent="-323850" algn="l" rtl="0">
              <a:lnSpc>
                <a:spcPct val="100000"/>
              </a:lnSpc>
              <a:spcBef>
                <a:spcPts val="0"/>
              </a:spcBef>
              <a:spcAft>
                <a:spcPts val="0"/>
              </a:spcAft>
              <a:buClr>
                <a:srgbClr val="000000"/>
              </a:buClr>
              <a:buSzPts val="1500"/>
              <a:buFont typeface="Nunito"/>
              <a:buChar char="●"/>
            </a:pPr>
            <a:r>
              <a:rPr lang="en" sz="1500" dirty="0">
                <a:solidFill>
                  <a:srgbClr val="000000"/>
                </a:solidFill>
                <a:latin typeface="Nunito"/>
                <a:ea typeface="Nunito"/>
                <a:cs typeface="Nunito"/>
                <a:sym typeface="Nunito"/>
              </a:rPr>
              <a:t>Used to terminate statements. They indicate the end of a line of code and separate multiple statements on a single line.</a:t>
            </a:r>
            <a:endParaRPr sz="1500" dirty="0">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r>
              <a:rPr lang="en" sz="1500" b="1" dirty="0">
                <a:solidFill>
                  <a:srgbClr val="A64D79"/>
                </a:solidFill>
                <a:latin typeface="Nunito"/>
                <a:ea typeface="Nunito"/>
                <a:cs typeface="Nunito"/>
                <a:sym typeface="Nunito"/>
              </a:rPr>
              <a:t>Curly Brackets {}:</a:t>
            </a:r>
            <a:r>
              <a:rPr lang="en" sz="1500" dirty="0">
                <a:solidFill>
                  <a:srgbClr val="A64D79"/>
                </a:solidFill>
                <a:latin typeface="Nunito"/>
                <a:ea typeface="Nunito"/>
                <a:cs typeface="Nunito"/>
                <a:sym typeface="Nunito"/>
              </a:rPr>
              <a:t> </a:t>
            </a:r>
            <a:endParaRPr sz="1500" dirty="0">
              <a:solidFill>
                <a:srgbClr val="A64D79"/>
              </a:solidFill>
              <a:latin typeface="Nunito"/>
              <a:ea typeface="Nunito"/>
              <a:cs typeface="Nunito"/>
              <a:sym typeface="Nunito"/>
            </a:endParaRPr>
          </a:p>
          <a:p>
            <a:pPr marL="457200" lvl="0" indent="-323850" algn="l" rtl="0">
              <a:lnSpc>
                <a:spcPct val="100000"/>
              </a:lnSpc>
              <a:spcBef>
                <a:spcPts val="0"/>
              </a:spcBef>
              <a:spcAft>
                <a:spcPts val="0"/>
              </a:spcAft>
              <a:buClr>
                <a:srgbClr val="000000"/>
              </a:buClr>
              <a:buSzPts val="1500"/>
              <a:buFont typeface="Nunito"/>
              <a:buChar char="●"/>
            </a:pPr>
            <a:r>
              <a:rPr lang="en" sz="1500" dirty="0">
                <a:solidFill>
                  <a:srgbClr val="000000"/>
                </a:solidFill>
                <a:latin typeface="Nunito"/>
                <a:ea typeface="Nunito"/>
                <a:cs typeface="Nunito"/>
                <a:sym typeface="Nunito"/>
              </a:rPr>
              <a:t>Used to define code blocks. They group multiple statements together, such as the body of functions, loops, and conditional statements.</a:t>
            </a:r>
            <a:endParaRPr sz="1500" dirty="0">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r>
              <a:rPr lang="en" sz="1500" b="1" dirty="0">
                <a:solidFill>
                  <a:srgbClr val="A64D79"/>
                </a:solidFill>
                <a:latin typeface="Nunito"/>
                <a:ea typeface="Nunito"/>
                <a:cs typeface="Nunito"/>
                <a:sym typeface="Nunito"/>
              </a:rPr>
              <a:t>Plus Signs +: </a:t>
            </a:r>
            <a:endParaRPr sz="1500" b="1" dirty="0">
              <a:solidFill>
                <a:srgbClr val="A64D79"/>
              </a:solidFill>
              <a:latin typeface="Nunito"/>
              <a:ea typeface="Nunito"/>
              <a:cs typeface="Nunito"/>
              <a:sym typeface="Nunito"/>
            </a:endParaRPr>
          </a:p>
          <a:p>
            <a:pPr marL="457200" lvl="0" indent="-323850" algn="l" rtl="0">
              <a:lnSpc>
                <a:spcPct val="100000"/>
              </a:lnSpc>
              <a:spcBef>
                <a:spcPts val="0"/>
              </a:spcBef>
              <a:spcAft>
                <a:spcPts val="0"/>
              </a:spcAft>
              <a:buClr>
                <a:srgbClr val="000000"/>
              </a:buClr>
              <a:buSzPts val="1500"/>
              <a:buFont typeface="Nunito"/>
              <a:buChar char="●"/>
            </a:pPr>
            <a:r>
              <a:rPr lang="en" sz="1500" dirty="0">
                <a:solidFill>
                  <a:srgbClr val="000000"/>
                </a:solidFill>
                <a:latin typeface="Nunito"/>
                <a:ea typeface="Nunito"/>
                <a:cs typeface="Nunito"/>
                <a:sym typeface="Nunito"/>
              </a:rPr>
              <a:t>Used for addition and string concatenation. In math expressions, it adds numbers, and in strings, it joins them together.</a:t>
            </a:r>
            <a:endParaRPr sz="1500" dirty="0">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r>
              <a:rPr lang="en" sz="1500" b="1" dirty="0">
                <a:solidFill>
                  <a:srgbClr val="A64D79"/>
                </a:solidFill>
                <a:latin typeface="Nunito"/>
                <a:ea typeface="Nunito"/>
                <a:cs typeface="Nunito"/>
                <a:sym typeface="Nunito"/>
              </a:rPr>
              <a:t>var: </a:t>
            </a:r>
            <a:endParaRPr sz="1500" b="1" dirty="0">
              <a:solidFill>
                <a:srgbClr val="A64D79"/>
              </a:solidFill>
              <a:latin typeface="Nunito"/>
              <a:ea typeface="Nunito"/>
              <a:cs typeface="Nunito"/>
              <a:sym typeface="Nunito"/>
            </a:endParaRPr>
          </a:p>
          <a:p>
            <a:pPr marL="457200" lvl="0" indent="-323850" algn="l" rtl="0">
              <a:lnSpc>
                <a:spcPct val="100000"/>
              </a:lnSpc>
              <a:spcBef>
                <a:spcPts val="0"/>
              </a:spcBef>
              <a:spcAft>
                <a:spcPts val="0"/>
              </a:spcAft>
              <a:buClr>
                <a:srgbClr val="000000"/>
              </a:buClr>
              <a:buSzPts val="1500"/>
              <a:buFont typeface="Nunito"/>
              <a:buChar char="●"/>
            </a:pPr>
            <a:r>
              <a:rPr lang="en" sz="1500" dirty="0">
                <a:solidFill>
                  <a:srgbClr val="000000"/>
                </a:solidFill>
                <a:latin typeface="Nunito"/>
                <a:ea typeface="Nunito"/>
                <a:cs typeface="Nunito"/>
                <a:sym typeface="Nunito"/>
              </a:rPr>
              <a:t>Used to declare a variable</a:t>
            </a:r>
            <a:endParaRPr sz="1500" dirty="0">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r>
              <a:rPr lang="en" sz="1500" b="1" dirty="0">
                <a:solidFill>
                  <a:srgbClr val="A64D79"/>
                </a:solidFill>
                <a:latin typeface="Nunito"/>
                <a:ea typeface="Nunito"/>
                <a:cs typeface="Nunito"/>
                <a:sym typeface="Nunito"/>
              </a:rPr>
              <a:t>console.log: </a:t>
            </a:r>
            <a:endParaRPr sz="1500" b="1" dirty="0">
              <a:solidFill>
                <a:srgbClr val="A64D79"/>
              </a:solidFill>
              <a:latin typeface="Nunito"/>
              <a:ea typeface="Nunito"/>
              <a:cs typeface="Nunito"/>
              <a:sym typeface="Nunito"/>
            </a:endParaRPr>
          </a:p>
          <a:p>
            <a:pPr marL="457200" lvl="0" indent="-323850" algn="l" rtl="0">
              <a:lnSpc>
                <a:spcPct val="100000"/>
              </a:lnSpc>
              <a:spcBef>
                <a:spcPts val="0"/>
              </a:spcBef>
              <a:spcAft>
                <a:spcPts val="0"/>
              </a:spcAft>
              <a:buClr>
                <a:srgbClr val="000000"/>
              </a:buClr>
              <a:buSzPts val="1500"/>
              <a:buFont typeface="Nunito"/>
              <a:buChar char="●"/>
            </a:pPr>
            <a:r>
              <a:rPr lang="en" sz="1500" dirty="0">
                <a:solidFill>
                  <a:srgbClr val="000000"/>
                </a:solidFill>
                <a:latin typeface="Nunito"/>
                <a:ea typeface="Nunito"/>
                <a:cs typeface="Nunito"/>
                <a:sym typeface="Nunito"/>
              </a:rPr>
              <a:t>A function used to print output to the console.</a:t>
            </a:r>
            <a:endParaRPr sz="1500" dirty="0">
              <a:solidFill>
                <a:srgbClr val="000000"/>
              </a:solidFill>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0" y="0"/>
            <a:ext cx="9144000" cy="3893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66666"/>
              <a:buNone/>
            </a:pPr>
            <a:r>
              <a:rPr lang="en" sz="1800" b="1" dirty="0">
                <a:solidFill>
                  <a:srgbClr val="A64D79"/>
                </a:solidFill>
                <a:latin typeface="Nunito"/>
                <a:ea typeface="Nunito"/>
                <a:cs typeface="Nunito"/>
                <a:sym typeface="Nunito"/>
              </a:rPr>
              <a:t>Naming a Variable:</a:t>
            </a:r>
            <a:endParaRPr sz="1800" b="1" dirty="0">
              <a:solidFill>
                <a:srgbClr val="A64D79"/>
              </a:solidFill>
              <a:latin typeface="Nunito"/>
              <a:ea typeface="Nunito"/>
              <a:cs typeface="Nunito"/>
              <a:sym typeface="Nunito"/>
            </a:endParaRPr>
          </a:p>
          <a:p>
            <a:pPr marL="457200" lvl="0" indent="-320040" algn="l" rtl="0">
              <a:lnSpc>
                <a:spcPct val="100000"/>
              </a:lnSpc>
              <a:spcBef>
                <a:spcPts val="0"/>
              </a:spcBef>
              <a:spcAft>
                <a:spcPts val="0"/>
              </a:spcAft>
              <a:buClr>
                <a:srgbClr val="000000"/>
              </a:buClr>
              <a:buSzPct val="100000"/>
              <a:buFont typeface="Nunito"/>
              <a:buChar char="●"/>
            </a:pPr>
            <a:r>
              <a:rPr lang="en" sz="1600" b="1" dirty="0">
                <a:solidFill>
                  <a:srgbClr val="000000"/>
                </a:solidFill>
                <a:latin typeface="Nunito"/>
                <a:ea typeface="Nunito"/>
                <a:cs typeface="Nunito"/>
                <a:sym typeface="Nunito"/>
              </a:rPr>
              <a:t>Variable names must begin with a letter (a-z, A-Z), an underscore, or a dollar sign ($).</a:t>
            </a:r>
            <a:endParaRPr sz="1600" b="1" dirty="0">
              <a:solidFill>
                <a:srgbClr val="000000"/>
              </a:solidFill>
              <a:latin typeface="Nunito"/>
              <a:ea typeface="Nunito"/>
              <a:cs typeface="Nunito"/>
              <a:sym typeface="Nunito"/>
            </a:endParaRPr>
          </a:p>
          <a:p>
            <a:pPr marL="457200" lvl="0" indent="-320040" algn="l" rtl="0">
              <a:lnSpc>
                <a:spcPct val="100000"/>
              </a:lnSpc>
              <a:spcBef>
                <a:spcPts val="0"/>
              </a:spcBef>
              <a:spcAft>
                <a:spcPts val="0"/>
              </a:spcAft>
              <a:buClr>
                <a:srgbClr val="000000"/>
              </a:buClr>
              <a:buSzPct val="100000"/>
              <a:buFont typeface="Nunito"/>
              <a:buChar char="●"/>
            </a:pPr>
            <a:r>
              <a:rPr lang="en" sz="1600" b="1" dirty="0">
                <a:solidFill>
                  <a:srgbClr val="000000"/>
                </a:solidFill>
                <a:latin typeface="Nunito"/>
                <a:ea typeface="Nunito"/>
                <a:cs typeface="Nunito"/>
                <a:sym typeface="Nunito"/>
              </a:rPr>
              <a:t>Variable names cannot contain spaces.</a:t>
            </a:r>
            <a:endParaRPr sz="1600" b="1" dirty="0">
              <a:solidFill>
                <a:srgbClr val="000000"/>
              </a:solidFill>
              <a:latin typeface="Nunito"/>
              <a:ea typeface="Nunito"/>
              <a:cs typeface="Nunito"/>
              <a:sym typeface="Nunito"/>
            </a:endParaRPr>
          </a:p>
          <a:p>
            <a:pPr marL="457200" lvl="0" indent="-320040" algn="l" rtl="0">
              <a:lnSpc>
                <a:spcPct val="100000"/>
              </a:lnSpc>
              <a:spcBef>
                <a:spcPts val="0"/>
              </a:spcBef>
              <a:spcAft>
                <a:spcPts val="0"/>
              </a:spcAft>
              <a:buClr>
                <a:srgbClr val="000000"/>
              </a:buClr>
              <a:buSzPct val="100000"/>
              <a:buFont typeface="Nunito"/>
              <a:buChar char="●"/>
            </a:pPr>
            <a:r>
              <a:rPr lang="en" sz="1600" b="1" dirty="0">
                <a:solidFill>
                  <a:srgbClr val="000000"/>
                </a:solidFill>
                <a:latin typeface="Nunito"/>
                <a:ea typeface="Nunito"/>
                <a:cs typeface="Nunito"/>
                <a:sym typeface="Nunito"/>
              </a:rPr>
              <a:t>Variable names are case-sensitive</a:t>
            </a:r>
            <a:endParaRPr sz="1600" b="1" dirty="0">
              <a:solidFill>
                <a:srgbClr val="000000"/>
              </a:solidFill>
              <a:latin typeface="Nunito"/>
              <a:ea typeface="Nunito"/>
              <a:cs typeface="Nunito"/>
              <a:sym typeface="Nunito"/>
            </a:endParaRPr>
          </a:p>
          <a:p>
            <a:pPr marL="457200" lvl="0" indent="-331470" algn="l" rtl="0">
              <a:lnSpc>
                <a:spcPct val="100000"/>
              </a:lnSpc>
              <a:spcBef>
                <a:spcPts val="0"/>
              </a:spcBef>
              <a:spcAft>
                <a:spcPts val="0"/>
              </a:spcAft>
              <a:buClr>
                <a:srgbClr val="000000"/>
              </a:buClr>
              <a:buSzPct val="112500"/>
              <a:buFont typeface="Nunito"/>
              <a:buChar char="●"/>
            </a:pPr>
            <a:r>
              <a:rPr lang="en" sz="1600" b="1" dirty="0">
                <a:solidFill>
                  <a:srgbClr val="000000"/>
                </a:solidFill>
                <a:latin typeface="Nunito"/>
                <a:ea typeface="Nunito"/>
                <a:cs typeface="Nunito"/>
                <a:sym typeface="Nunito"/>
              </a:rPr>
              <a:t>Avoid using reserved keywords (e.g., if, for, while) as variable names.</a:t>
            </a:r>
            <a:br>
              <a:rPr lang="en" sz="1800" b="1" dirty="0">
                <a:solidFill>
                  <a:srgbClr val="000000"/>
                </a:solidFill>
                <a:latin typeface="Nunito"/>
                <a:ea typeface="Nunito"/>
                <a:cs typeface="Nunito"/>
                <a:sym typeface="Nunito"/>
              </a:rPr>
            </a:br>
            <a:endParaRPr sz="900" b="1" dirty="0">
              <a:solidFill>
                <a:srgbClr val="000000"/>
              </a:solidFill>
              <a:latin typeface="Nunito"/>
              <a:ea typeface="Nunito"/>
              <a:cs typeface="Nunito"/>
              <a:sym typeface="Nunito"/>
            </a:endParaRPr>
          </a:p>
          <a:p>
            <a:pPr marL="0" lvl="0" indent="0" algn="l" rtl="0">
              <a:lnSpc>
                <a:spcPct val="100000"/>
              </a:lnSpc>
              <a:spcBef>
                <a:spcPts val="0"/>
              </a:spcBef>
              <a:spcAft>
                <a:spcPts val="0"/>
              </a:spcAft>
              <a:buSzPct val="166666"/>
              <a:buNone/>
            </a:pPr>
            <a:r>
              <a:rPr lang="en" sz="1800" b="1" dirty="0">
                <a:solidFill>
                  <a:srgbClr val="A64D79"/>
                </a:solidFill>
                <a:latin typeface="Nunito"/>
                <a:ea typeface="Nunito"/>
                <a:cs typeface="Nunito"/>
                <a:sym typeface="Nunito"/>
              </a:rPr>
              <a:t>Incrementing:</a:t>
            </a:r>
            <a:endParaRPr sz="1800" b="1" dirty="0">
              <a:solidFill>
                <a:srgbClr val="A64D79"/>
              </a:solidFill>
              <a:latin typeface="Nunito"/>
              <a:ea typeface="Nunito"/>
              <a:cs typeface="Nunito"/>
              <a:sym typeface="Nunito"/>
            </a:endParaRPr>
          </a:p>
          <a:p>
            <a:pPr marL="457200" lvl="0" indent="-320040" algn="l" rtl="0">
              <a:lnSpc>
                <a:spcPct val="100000"/>
              </a:lnSpc>
              <a:spcBef>
                <a:spcPts val="0"/>
              </a:spcBef>
              <a:spcAft>
                <a:spcPts val="0"/>
              </a:spcAft>
              <a:buClr>
                <a:srgbClr val="000000"/>
              </a:buClr>
              <a:buSzPct val="100000"/>
              <a:buFont typeface="Nunito"/>
              <a:buChar char="●"/>
            </a:pPr>
            <a:r>
              <a:rPr lang="en" sz="1600" b="1" dirty="0">
                <a:solidFill>
                  <a:srgbClr val="000000"/>
                </a:solidFill>
                <a:latin typeface="Nunito"/>
                <a:ea typeface="Nunito"/>
                <a:cs typeface="Nunito"/>
                <a:sym typeface="Nunito"/>
              </a:rPr>
              <a:t>Pre-increment </a:t>
            </a:r>
            <a:r>
              <a:rPr lang="en" sz="1600" b="1" dirty="0">
                <a:solidFill>
                  <a:srgbClr val="FF0000"/>
                </a:solidFill>
                <a:latin typeface="Nunito"/>
                <a:ea typeface="Nunito"/>
                <a:cs typeface="Nunito"/>
                <a:sym typeface="Nunito"/>
              </a:rPr>
              <a:t>(++x</a:t>
            </a:r>
            <a:r>
              <a:rPr lang="en" sz="1600" b="1" dirty="0">
                <a:solidFill>
                  <a:srgbClr val="000000"/>
                </a:solidFill>
                <a:latin typeface="Nunito"/>
                <a:ea typeface="Nunito"/>
                <a:cs typeface="Nunito"/>
                <a:sym typeface="Nunito"/>
              </a:rPr>
              <a:t>): Increases the value of x by 1 before using it. </a:t>
            </a:r>
            <a:r>
              <a:rPr lang="en-US" sz="1600" b="1" dirty="0">
                <a:solidFill>
                  <a:srgbClr val="000000"/>
                </a:solidFill>
                <a:latin typeface="Nunito"/>
                <a:ea typeface="Nunito"/>
                <a:cs typeface="Nunito"/>
                <a:sym typeface="Nunito"/>
              </a:rPr>
              <a:t>   </a:t>
            </a:r>
          </a:p>
          <a:p>
            <a:pPr marL="457200" lvl="0" indent="-320040" algn="l" rtl="0">
              <a:lnSpc>
                <a:spcPct val="100000"/>
              </a:lnSpc>
              <a:spcBef>
                <a:spcPts val="0"/>
              </a:spcBef>
              <a:spcAft>
                <a:spcPts val="0"/>
              </a:spcAft>
              <a:buClr>
                <a:srgbClr val="000000"/>
              </a:buClr>
              <a:buSzPct val="100000"/>
              <a:buFont typeface="Nunito"/>
              <a:buChar char="●"/>
            </a:pPr>
            <a:r>
              <a:rPr lang="en-US" sz="1600" b="1" dirty="0">
                <a:solidFill>
                  <a:srgbClr val="000000"/>
                </a:solidFill>
                <a:latin typeface="Nunito"/>
                <a:ea typeface="Nunito"/>
                <a:cs typeface="Nunito"/>
                <a:sym typeface="Nunito"/>
              </a:rPr>
              <a:t>Post-increment (</a:t>
            </a:r>
            <a:r>
              <a:rPr lang="en-US" sz="1600" b="1" dirty="0">
                <a:solidFill>
                  <a:srgbClr val="FF0000"/>
                </a:solidFill>
                <a:latin typeface="Nunito"/>
                <a:ea typeface="Nunito"/>
                <a:cs typeface="Nunito"/>
                <a:sym typeface="Nunito"/>
              </a:rPr>
              <a:t>x++</a:t>
            </a:r>
            <a:r>
              <a:rPr lang="en-US" sz="1600" b="1" dirty="0">
                <a:solidFill>
                  <a:srgbClr val="000000"/>
                </a:solidFill>
                <a:latin typeface="Nunito"/>
                <a:ea typeface="Nunito"/>
                <a:cs typeface="Nunito"/>
                <a:sym typeface="Nunito"/>
              </a:rPr>
              <a:t>): Uses the current value of x and then adds 1.  </a:t>
            </a:r>
          </a:p>
          <a:p>
            <a:pPr marL="0" lvl="0" indent="0" algn="l" rtl="0">
              <a:lnSpc>
                <a:spcPct val="100000"/>
              </a:lnSpc>
              <a:spcBef>
                <a:spcPts val="0"/>
              </a:spcBef>
              <a:spcAft>
                <a:spcPts val="0"/>
              </a:spcAft>
              <a:buSzPct val="300000"/>
              <a:buNone/>
            </a:pPr>
            <a:endParaRPr sz="1000" b="1" dirty="0">
              <a:solidFill>
                <a:srgbClr val="A64D79"/>
              </a:solidFill>
              <a:latin typeface="Nunito"/>
              <a:ea typeface="Nunito"/>
              <a:cs typeface="Nunito"/>
              <a:sym typeface="Nunito"/>
            </a:endParaRPr>
          </a:p>
          <a:p>
            <a:pPr marL="0" lvl="0" indent="0" algn="l" rtl="0">
              <a:lnSpc>
                <a:spcPct val="100000"/>
              </a:lnSpc>
              <a:spcBef>
                <a:spcPts val="0"/>
              </a:spcBef>
              <a:spcAft>
                <a:spcPts val="0"/>
              </a:spcAft>
              <a:buSzPct val="166666"/>
              <a:buNone/>
            </a:pPr>
            <a:r>
              <a:rPr lang="en" sz="1800" b="1" dirty="0">
                <a:solidFill>
                  <a:srgbClr val="A64D79"/>
                </a:solidFill>
                <a:latin typeface="Nunito"/>
                <a:ea typeface="Nunito"/>
                <a:cs typeface="Nunito"/>
                <a:sym typeface="Nunito"/>
              </a:rPr>
              <a:t>Decrementing:</a:t>
            </a:r>
            <a:endParaRPr sz="1800" b="1" dirty="0">
              <a:solidFill>
                <a:srgbClr val="A64D79"/>
              </a:solidFill>
              <a:latin typeface="Nunito"/>
              <a:ea typeface="Nunito"/>
              <a:cs typeface="Nunito"/>
              <a:sym typeface="Nunito"/>
            </a:endParaRPr>
          </a:p>
          <a:p>
            <a:pPr marL="457200" lvl="0" indent="-320040" algn="l" rtl="0">
              <a:lnSpc>
                <a:spcPct val="100000"/>
              </a:lnSpc>
              <a:spcBef>
                <a:spcPts val="0"/>
              </a:spcBef>
              <a:spcAft>
                <a:spcPts val="0"/>
              </a:spcAft>
              <a:buClr>
                <a:srgbClr val="000000"/>
              </a:buClr>
              <a:buSzPct val="100000"/>
              <a:buFont typeface="Nunito"/>
              <a:buChar char="●"/>
            </a:pPr>
            <a:r>
              <a:rPr lang="en" sz="1600" b="1" dirty="0">
                <a:solidFill>
                  <a:srgbClr val="000000"/>
                </a:solidFill>
                <a:latin typeface="Nunito"/>
                <a:ea typeface="Nunito"/>
                <a:cs typeface="Nunito"/>
                <a:sym typeface="Nunito"/>
              </a:rPr>
              <a:t>Pre-decrement (</a:t>
            </a:r>
            <a:r>
              <a:rPr lang="en" sz="1600" b="1" dirty="0">
                <a:solidFill>
                  <a:srgbClr val="FF0000"/>
                </a:solidFill>
                <a:latin typeface="Nunito"/>
                <a:ea typeface="Nunito"/>
                <a:cs typeface="Nunito"/>
                <a:sym typeface="Nunito"/>
              </a:rPr>
              <a:t>--x</a:t>
            </a:r>
            <a:r>
              <a:rPr lang="en" sz="1600" b="1" dirty="0">
                <a:solidFill>
                  <a:srgbClr val="000000"/>
                </a:solidFill>
                <a:latin typeface="Nunito"/>
                <a:ea typeface="Nunito"/>
                <a:cs typeface="Nunito"/>
                <a:sym typeface="Nunito"/>
              </a:rPr>
              <a:t>): Decreases the value of x by 1 before using it.   </a:t>
            </a:r>
            <a:endParaRPr sz="1600" b="1" dirty="0">
              <a:solidFill>
                <a:srgbClr val="000000"/>
              </a:solidFill>
              <a:latin typeface="Nunito"/>
              <a:ea typeface="Nunito"/>
              <a:cs typeface="Nunito"/>
              <a:sym typeface="Nunito"/>
            </a:endParaRPr>
          </a:p>
          <a:p>
            <a:pPr marL="457200" lvl="0" indent="-320040" algn="l" rtl="0">
              <a:lnSpc>
                <a:spcPct val="100000"/>
              </a:lnSpc>
              <a:spcBef>
                <a:spcPts val="0"/>
              </a:spcBef>
              <a:spcAft>
                <a:spcPts val="0"/>
              </a:spcAft>
              <a:buClr>
                <a:srgbClr val="000000"/>
              </a:buClr>
              <a:buSzPct val="100000"/>
              <a:buFont typeface="Nunito"/>
              <a:buChar char="●"/>
            </a:pPr>
            <a:r>
              <a:rPr lang="en" sz="1600" b="1" dirty="0">
                <a:solidFill>
                  <a:srgbClr val="000000"/>
                </a:solidFill>
                <a:latin typeface="Nunito"/>
                <a:ea typeface="Nunito"/>
                <a:cs typeface="Nunito"/>
                <a:sym typeface="Nunito"/>
              </a:rPr>
              <a:t>Post-decrement (</a:t>
            </a:r>
            <a:r>
              <a:rPr lang="en" sz="1600" b="1" dirty="0">
                <a:solidFill>
                  <a:srgbClr val="FF0000"/>
                </a:solidFill>
                <a:latin typeface="Nunito"/>
                <a:ea typeface="Nunito"/>
                <a:cs typeface="Nunito"/>
                <a:sym typeface="Nunito"/>
              </a:rPr>
              <a:t>x--</a:t>
            </a:r>
            <a:r>
              <a:rPr lang="en" sz="1600" b="1" dirty="0">
                <a:solidFill>
                  <a:srgbClr val="000000"/>
                </a:solidFill>
                <a:latin typeface="Nunito"/>
                <a:ea typeface="Nunito"/>
                <a:cs typeface="Nunito"/>
                <a:sym typeface="Nunito"/>
              </a:rPr>
              <a:t>): Uses the current value of x first, then decreases it by 1.</a:t>
            </a:r>
            <a:endParaRPr sz="1600" b="1" dirty="0">
              <a:solidFill>
                <a:srgbClr val="000000"/>
              </a:solidFill>
              <a:latin typeface="Nunito"/>
              <a:ea typeface="Nunito"/>
              <a:cs typeface="Nunito"/>
              <a:sym typeface="Nunito"/>
            </a:endParaRPr>
          </a:p>
          <a:p>
            <a:pPr marL="457200" lvl="0" indent="0" algn="l" rtl="0">
              <a:lnSpc>
                <a:spcPct val="100000"/>
              </a:lnSpc>
              <a:spcBef>
                <a:spcPts val="0"/>
              </a:spcBef>
              <a:spcAft>
                <a:spcPts val="0"/>
              </a:spcAft>
              <a:buSzPct val="208333"/>
              <a:buNone/>
            </a:pPr>
            <a:endParaRPr sz="1600" b="1" dirty="0">
              <a:solidFill>
                <a:srgbClr val="000000"/>
              </a:solidFill>
              <a:latin typeface="Nunito"/>
              <a:ea typeface="Nunito"/>
              <a:cs typeface="Nunito"/>
              <a:sym typeface="Nunito"/>
            </a:endParaRPr>
          </a:p>
          <a:p>
            <a:pPr marL="0" lvl="0" indent="0" algn="l" rtl="0">
              <a:lnSpc>
                <a:spcPct val="100000"/>
              </a:lnSpc>
              <a:spcBef>
                <a:spcPts val="0"/>
              </a:spcBef>
              <a:spcAft>
                <a:spcPts val="0"/>
              </a:spcAft>
              <a:buSzPct val="185185"/>
              <a:buNone/>
            </a:pPr>
            <a:r>
              <a:rPr lang="en" sz="1800" b="1" dirty="0">
                <a:solidFill>
                  <a:srgbClr val="A64D79"/>
                </a:solidFill>
                <a:latin typeface="Nunito"/>
                <a:ea typeface="Nunito"/>
                <a:cs typeface="Nunito"/>
                <a:sym typeface="Nunito"/>
              </a:rPr>
              <a:t>Comments:</a:t>
            </a:r>
            <a:endParaRPr sz="1800" b="1" dirty="0">
              <a:solidFill>
                <a:srgbClr val="A64D79"/>
              </a:solidFill>
              <a:latin typeface="Nunito"/>
              <a:ea typeface="Nunito"/>
              <a:cs typeface="Nunito"/>
              <a:sym typeface="Nunito"/>
            </a:endParaRPr>
          </a:p>
          <a:p>
            <a:pPr marL="457200" lvl="0" indent="-320040" algn="l" rtl="0">
              <a:lnSpc>
                <a:spcPct val="100000"/>
              </a:lnSpc>
              <a:spcBef>
                <a:spcPts val="0"/>
              </a:spcBef>
              <a:spcAft>
                <a:spcPts val="0"/>
              </a:spcAft>
              <a:buClr>
                <a:srgbClr val="000000"/>
              </a:buClr>
              <a:buSzPct val="100000"/>
              <a:buFont typeface="Nunito"/>
              <a:buChar char="●"/>
            </a:pPr>
            <a:r>
              <a:rPr lang="en" sz="1600" b="1" dirty="0">
                <a:solidFill>
                  <a:srgbClr val="000000"/>
                </a:solidFill>
                <a:latin typeface="Nunito"/>
                <a:ea typeface="Nunito"/>
                <a:cs typeface="Nunito"/>
                <a:sym typeface="Nunito"/>
              </a:rPr>
              <a:t>Comments help explain code for better understanding.</a:t>
            </a:r>
            <a:endParaRPr sz="1600" b="1" dirty="0">
              <a:solidFill>
                <a:srgbClr val="000000"/>
              </a:solidFill>
              <a:latin typeface="Nunito"/>
              <a:ea typeface="Nunito"/>
              <a:cs typeface="Nunito"/>
              <a:sym typeface="Nunito"/>
            </a:endParaRPr>
          </a:p>
          <a:p>
            <a:pPr marL="457200" lvl="0" indent="-320040" algn="l" rtl="0">
              <a:lnSpc>
                <a:spcPct val="100000"/>
              </a:lnSpc>
              <a:spcBef>
                <a:spcPts val="0"/>
              </a:spcBef>
              <a:spcAft>
                <a:spcPts val="0"/>
              </a:spcAft>
              <a:buClr>
                <a:srgbClr val="A64D79"/>
              </a:buClr>
              <a:buSzPct val="100000"/>
              <a:buFont typeface="Nunito"/>
              <a:buChar char="●"/>
            </a:pPr>
            <a:r>
              <a:rPr lang="en" sz="1600" b="1" dirty="0">
                <a:solidFill>
                  <a:srgbClr val="A64D79"/>
                </a:solidFill>
                <a:latin typeface="Nunito"/>
                <a:ea typeface="Nunito"/>
                <a:cs typeface="Nunito"/>
                <a:sym typeface="Nunito"/>
              </a:rPr>
              <a:t>// I am writing my first comment.</a:t>
            </a:r>
            <a:endParaRPr sz="1600" b="1" dirty="0">
              <a:solidFill>
                <a:srgbClr val="A64D79"/>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8"/>
          <p:cNvSpPr txBox="1">
            <a:spLocks noGrp="1"/>
          </p:cNvSpPr>
          <p:nvPr>
            <p:ph type="title"/>
          </p:nvPr>
        </p:nvSpPr>
        <p:spPr>
          <a:xfrm>
            <a:off x="93945" y="106471"/>
            <a:ext cx="8623455" cy="4618854"/>
          </a:xfrm>
          <a:prstGeom prst="rect">
            <a:avLst/>
          </a:prstGeom>
          <a:noFill/>
          <a:ln>
            <a:noFill/>
          </a:ln>
        </p:spPr>
        <p:txBody>
          <a:bodyPr spcFirstLastPara="1" wrap="square" lIns="91425" tIns="91425" rIns="91425" bIns="91425" anchor="t" anchorCtr="0">
            <a:normAutofit/>
          </a:bodyPr>
          <a:lstStyle/>
          <a:p>
            <a:pPr lvl="0">
              <a:buClrTx/>
              <a:buSzPct val="186000"/>
            </a:pPr>
            <a:r>
              <a:rPr lang="en-US" sz="1800" b="1" dirty="0">
                <a:solidFill>
                  <a:srgbClr val="000000"/>
                </a:solidFill>
                <a:latin typeface="Nunito" panose="020B0604020202020204" charset="0"/>
                <a:ea typeface="Nunito"/>
                <a:cs typeface="Nunito"/>
                <a:sym typeface="Nunito"/>
              </a:rPr>
              <a:t>You can start learning JavaScript right in your Google Chrome browser. First, go to a blank page by typing </a:t>
            </a:r>
            <a:r>
              <a:rPr lang="en-US" sz="1800" b="1" dirty="0" err="1">
                <a:solidFill>
                  <a:srgbClr val="FF0000"/>
                </a:solidFill>
                <a:latin typeface="Nunito" panose="020B0604020202020204" charset="0"/>
                <a:ea typeface="Nunito"/>
                <a:cs typeface="Nunito"/>
                <a:sym typeface="Nunito"/>
              </a:rPr>
              <a:t>about:blank</a:t>
            </a:r>
            <a:r>
              <a:rPr lang="en-US" sz="1800" b="1" dirty="0">
                <a:solidFill>
                  <a:srgbClr val="000000"/>
                </a:solidFill>
                <a:latin typeface="Nunito" panose="020B0604020202020204" charset="0"/>
                <a:ea typeface="Nunito"/>
                <a:cs typeface="Nunito"/>
                <a:sym typeface="Nunito"/>
              </a:rPr>
              <a:t>.  Then right-click anywhere on the page and select Inspect, then click the Console tab.  The console lets you write and test small bits of JavaScript code immediately. Chrome also highlights your code with colors to make it easier to read.</a:t>
            </a:r>
            <a:endParaRPr sz="1800" b="1" dirty="0">
              <a:solidFill>
                <a:srgbClr val="000000"/>
              </a:solidFill>
              <a:latin typeface="Nunito" panose="020B0604020202020204" charset="0"/>
            </a:endParaRPr>
          </a:p>
          <a:p>
            <a:pPr marL="0" lvl="0" indent="0" algn="l" rtl="0">
              <a:lnSpc>
                <a:spcPct val="100000"/>
              </a:lnSpc>
              <a:spcBef>
                <a:spcPts val="0"/>
              </a:spcBef>
              <a:spcAft>
                <a:spcPts val="0"/>
              </a:spcAft>
              <a:buSzPts val="3000"/>
              <a:buNone/>
            </a:pPr>
            <a:endParaRPr dirty="0"/>
          </a:p>
        </p:txBody>
      </p:sp>
      <p:pic>
        <p:nvPicPr>
          <p:cNvPr id="116" name="Google Shape;116;p18"/>
          <p:cNvPicPr preferRelativeResize="0"/>
          <p:nvPr/>
        </p:nvPicPr>
        <p:blipFill rotWithShape="1">
          <a:blip r:embed="rId3">
            <a:alphaModFix/>
          </a:blip>
          <a:srcRect/>
          <a:stretch/>
        </p:blipFill>
        <p:spPr>
          <a:xfrm>
            <a:off x="2337675" y="1599800"/>
            <a:ext cx="3583225" cy="2958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9"/>
          <p:cNvSpPr txBox="1">
            <a:spLocks noGrp="1"/>
          </p:cNvSpPr>
          <p:nvPr>
            <p:ph type="title"/>
          </p:nvPr>
        </p:nvSpPr>
        <p:spPr>
          <a:xfrm>
            <a:off x="0" y="688500"/>
            <a:ext cx="4138200" cy="4455000"/>
          </a:xfrm>
          <a:prstGeom prst="rect">
            <a:avLst/>
          </a:prstGeom>
          <a:noFill/>
          <a:ln w="9525" cap="flat" cmpd="sng">
            <a:solidFill>
              <a:srgbClr val="F3F3F3"/>
            </a:solidFill>
            <a:prstDash val="solid"/>
            <a:round/>
            <a:headEnd type="none" w="sm" len="sm"/>
            <a:tailEnd type="none" w="sm" len="sm"/>
          </a:ln>
        </p:spPr>
        <p:txBody>
          <a:bodyPr spcFirstLastPara="1" wrap="square" lIns="91425" tIns="91425" rIns="91425" bIns="91425" anchor="t" anchorCtr="0">
            <a:normAutofit fontScale="90000"/>
          </a:bodyPr>
          <a:lstStyle/>
          <a:p>
            <a:pPr marL="457200" lvl="0" indent="-317182" algn="l" rtl="0">
              <a:lnSpc>
                <a:spcPct val="100000"/>
              </a:lnSpc>
              <a:spcBef>
                <a:spcPts val="0"/>
              </a:spcBef>
              <a:spcAft>
                <a:spcPts val="0"/>
              </a:spcAft>
              <a:buClr>
                <a:srgbClr val="000000"/>
              </a:buClr>
              <a:buSzPct val="100000"/>
              <a:buFont typeface="Nunito"/>
              <a:buChar char="●"/>
            </a:pPr>
            <a:r>
              <a:rPr lang="en" sz="1550" b="1" dirty="0">
                <a:solidFill>
                  <a:srgbClr val="000000"/>
                </a:solidFill>
                <a:latin typeface="Nunito"/>
                <a:ea typeface="Nunito"/>
                <a:cs typeface="Nunito"/>
                <a:sym typeface="Nunito"/>
              </a:rPr>
              <a:t>This code starts by Declaring a Variable(</a:t>
            </a:r>
            <a:r>
              <a:rPr lang="en" sz="1550" b="1" dirty="0">
                <a:solidFill>
                  <a:srgbClr val="A64D79"/>
                </a:solidFill>
                <a:latin typeface="Nunito"/>
                <a:ea typeface="Nunito"/>
                <a:cs typeface="Nunito"/>
                <a:sym typeface="Nunito"/>
              </a:rPr>
              <a:t>drawCats</a:t>
            </a:r>
            <a:r>
              <a:rPr lang="en" sz="1550" b="1" dirty="0">
                <a:solidFill>
                  <a:srgbClr val="000000"/>
                </a:solidFill>
                <a:latin typeface="Nunito"/>
                <a:ea typeface="Nunito"/>
                <a:cs typeface="Nunito"/>
                <a:sym typeface="Nunito"/>
              </a:rPr>
              <a:t>) and Assigns a Function.</a:t>
            </a:r>
            <a:endParaRPr sz="1550" b="1" dirty="0">
              <a:solidFill>
                <a:srgbClr val="000000"/>
              </a:solidFill>
              <a:latin typeface="Nunito"/>
              <a:ea typeface="Nunito"/>
              <a:cs typeface="Nunito"/>
              <a:sym typeface="Nunito"/>
            </a:endParaRPr>
          </a:p>
          <a:p>
            <a:pPr marL="457200" lvl="0" indent="0" algn="l" rtl="0">
              <a:lnSpc>
                <a:spcPct val="100000"/>
              </a:lnSpc>
              <a:spcBef>
                <a:spcPts val="0"/>
              </a:spcBef>
              <a:spcAft>
                <a:spcPts val="0"/>
              </a:spcAft>
              <a:buSzPts val="3000"/>
              <a:buNone/>
            </a:pPr>
            <a:endParaRPr sz="500" b="1" dirty="0">
              <a:solidFill>
                <a:srgbClr val="000000"/>
              </a:solidFill>
              <a:latin typeface="Nunito"/>
              <a:ea typeface="Nunito"/>
              <a:cs typeface="Nunito"/>
              <a:sym typeface="Nunito"/>
            </a:endParaRPr>
          </a:p>
          <a:p>
            <a:pPr marL="457200" lvl="0" indent="-317182" algn="l" rtl="0">
              <a:lnSpc>
                <a:spcPct val="100000"/>
              </a:lnSpc>
              <a:spcBef>
                <a:spcPts val="0"/>
              </a:spcBef>
              <a:spcAft>
                <a:spcPts val="0"/>
              </a:spcAft>
              <a:buClr>
                <a:srgbClr val="000000"/>
              </a:buClr>
              <a:buSzPct val="100000"/>
              <a:buFont typeface="Nunito"/>
              <a:buChar char="●"/>
            </a:pPr>
            <a:r>
              <a:rPr lang="en" sz="1550" b="1" dirty="0">
                <a:solidFill>
                  <a:srgbClr val="000000"/>
                </a:solidFill>
                <a:latin typeface="Nunito"/>
                <a:ea typeface="Nunito"/>
                <a:cs typeface="Nunito"/>
                <a:sym typeface="Nunito"/>
              </a:rPr>
              <a:t>This function</a:t>
            </a:r>
            <a:r>
              <a:rPr lang="en" sz="1550" b="1" dirty="0">
                <a:solidFill>
                  <a:srgbClr val="38761D"/>
                </a:solidFill>
                <a:latin typeface="Nunito"/>
                <a:ea typeface="Nunito"/>
                <a:cs typeface="Nunito"/>
                <a:sym typeface="Nunito"/>
              </a:rPr>
              <a:t> </a:t>
            </a:r>
            <a:r>
              <a:rPr lang="en" sz="1550" b="1">
                <a:solidFill>
                  <a:srgbClr val="000000"/>
                </a:solidFill>
                <a:latin typeface="Nunito"/>
                <a:ea typeface="Nunito"/>
                <a:cs typeface="Nunito"/>
                <a:sym typeface="Nunito"/>
              </a:rPr>
              <a:t>takes one parameter </a:t>
            </a:r>
            <a:r>
              <a:rPr lang="en" sz="1550" b="1" dirty="0">
                <a:solidFill>
                  <a:srgbClr val="000000"/>
                </a:solidFill>
                <a:latin typeface="Nunito"/>
                <a:ea typeface="Nunito"/>
                <a:cs typeface="Nunito"/>
                <a:sym typeface="Nunito"/>
              </a:rPr>
              <a:t>called </a:t>
            </a:r>
            <a:r>
              <a:rPr lang="en" sz="1550" b="1" dirty="0">
                <a:solidFill>
                  <a:srgbClr val="A64D79"/>
                </a:solidFill>
                <a:latin typeface="Nunito"/>
                <a:ea typeface="Nunito"/>
                <a:cs typeface="Nunito"/>
                <a:sym typeface="Nunito"/>
              </a:rPr>
              <a:t>howManyTimes</a:t>
            </a:r>
            <a:r>
              <a:rPr lang="en" sz="1550" b="1" dirty="0">
                <a:solidFill>
                  <a:srgbClr val="000000"/>
                </a:solidFill>
                <a:latin typeface="Nunito"/>
                <a:ea typeface="Nunito"/>
                <a:cs typeface="Nunito"/>
                <a:sym typeface="Nunito"/>
              </a:rPr>
              <a:t>, which represents the number of times we want to draw a cat.</a:t>
            </a:r>
            <a:endParaRPr sz="1550" b="1" dirty="0">
              <a:solidFill>
                <a:srgbClr val="000000"/>
              </a:solidFill>
              <a:latin typeface="Nunito"/>
              <a:ea typeface="Nunito"/>
              <a:cs typeface="Nunito"/>
              <a:sym typeface="Nunito"/>
            </a:endParaRPr>
          </a:p>
          <a:p>
            <a:pPr marL="457200" lvl="0" indent="0" algn="l" rtl="0">
              <a:lnSpc>
                <a:spcPct val="100000"/>
              </a:lnSpc>
              <a:spcBef>
                <a:spcPts val="0"/>
              </a:spcBef>
              <a:spcAft>
                <a:spcPts val="0"/>
              </a:spcAft>
              <a:buSzPts val="3000"/>
              <a:buNone/>
            </a:pPr>
            <a:endParaRPr sz="500" b="1" dirty="0">
              <a:solidFill>
                <a:srgbClr val="000000"/>
              </a:solidFill>
              <a:latin typeface="Nunito"/>
              <a:ea typeface="Nunito"/>
              <a:cs typeface="Nunito"/>
              <a:sym typeface="Nunito"/>
            </a:endParaRPr>
          </a:p>
          <a:p>
            <a:pPr marL="457200" lvl="0" indent="-317182" algn="l" rtl="0">
              <a:lnSpc>
                <a:spcPct val="100000"/>
              </a:lnSpc>
              <a:spcBef>
                <a:spcPts val="0"/>
              </a:spcBef>
              <a:spcAft>
                <a:spcPts val="0"/>
              </a:spcAft>
              <a:buClr>
                <a:srgbClr val="000000"/>
              </a:buClr>
              <a:buSzPct val="100000"/>
              <a:buFont typeface="Nunito"/>
              <a:buChar char="●"/>
            </a:pPr>
            <a:r>
              <a:rPr lang="en" sz="1550" b="1" dirty="0">
                <a:solidFill>
                  <a:srgbClr val="000000"/>
                </a:solidFill>
                <a:latin typeface="Nunito"/>
                <a:ea typeface="Nunito"/>
                <a:cs typeface="Nunito"/>
                <a:sym typeface="Nunito"/>
              </a:rPr>
              <a:t>The for loop runs the code block as long as</a:t>
            </a:r>
            <a:r>
              <a:rPr lang="en" sz="1550" b="1" dirty="0">
                <a:solidFill>
                  <a:srgbClr val="A64D79"/>
                </a:solidFill>
                <a:latin typeface="Nunito"/>
                <a:ea typeface="Nunito"/>
                <a:cs typeface="Nunito"/>
                <a:sym typeface="Nunito"/>
              </a:rPr>
              <a:t> i</a:t>
            </a:r>
            <a:r>
              <a:rPr lang="en" sz="1550" b="1" dirty="0">
                <a:solidFill>
                  <a:srgbClr val="000000"/>
                </a:solidFill>
                <a:latin typeface="Nunito"/>
                <a:ea typeface="Nunito"/>
                <a:cs typeface="Nunito"/>
                <a:sym typeface="Nunito"/>
              </a:rPr>
              <a:t> is less than </a:t>
            </a:r>
            <a:r>
              <a:rPr lang="en" sz="1550" b="1" dirty="0">
                <a:solidFill>
                  <a:srgbClr val="A64D79"/>
                </a:solidFill>
                <a:latin typeface="Nunito"/>
                <a:ea typeface="Nunito"/>
                <a:cs typeface="Nunito"/>
                <a:sym typeface="Nunito"/>
              </a:rPr>
              <a:t>howManyTimes</a:t>
            </a:r>
            <a:r>
              <a:rPr lang="en" sz="1550" b="1" dirty="0">
                <a:solidFill>
                  <a:srgbClr val="000000"/>
                </a:solidFill>
                <a:latin typeface="Nunito"/>
                <a:ea typeface="Nunito"/>
                <a:cs typeface="Nunito"/>
                <a:sym typeface="Nunito"/>
              </a:rPr>
              <a:t>, incrementing </a:t>
            </a:r>
            <a:r>
              <a:rPr lang="en" sz="1550" b="1" dirty="0">
                <a:solidFill>
                  <a:srgbClr val="A64D79"/>
                </a:solidFill>
                <a:latin typeface="Nunito"/>
                <a:ea typeface="Nunito"/>
                <a:cs typeface="Nunito"/>
                <a:sym typeface="Nunito"/>
              </a:rPr>
              <a:t>i</a:t>
            </a:r>
            <a:r>
              <a:rPr lang="en" sz="1550" b="1" dirty="0">
                <a:solidFill>
                  <a:srgbClr val="38761D"/>
                </a:solidFill>
                <a:latin typeface="Nunito"/>
                <a:ea typeface="Nunito"/>
                <a:cs typeface="Nunito"/>
                <a:sym typeface="Nunito"/>
              </a:rPr>
              <a:t> </a:t>
            </a:r>
            <a:r>
              <a:rPr lang="en" sz="1550" b="1" dirty="0">
                <a:solidFill>
                  <a:srgbClr val="000000"/>
                </a:solidFill>
                <a:latin typeface="Nunito"/>
                <a:ea typeface="Nunito"/>
                <a:cs typeface="Nunito"/>
                <a:sym typeface="Nunito"/>
              </a:rPr>
              <a:t>each time.</a:t>
            </a:r>
            <a:endParaRPr sz="1550" b="1" dirty="0">
              <a:solidFill>
                <a:srgbClr val="000000"/>
              </a:solidFill>
              <a:latin typeface="Nunito"/>
              <a:ea typeface="Nunito"/>
              <a:cs typeface="Nunito"/>
              <a:sym typeface="Nunito"/>
            </a:endParaRPr>
          </a:p>
          <a:p>
            <a:pPr marL="457200" lvl="0" indent="0" algn="l" rtl="0">
              <a:lnSpc>
                <a:spcPct val="100000"/>
              </a:lnSpc>
              <a:spcBef>
                <a:spcPts val="0"/>
              </a:spcBef>
              <a:spcAft>
                <a:spcPts val="0"/>
              </a:spcAft>
              <a:buSzPts val="3000"/>
              <a:buNone/>
            </a:pPr>
            <a:endParaRPr sz="500" b="1" dirty="0">
              <a:solidFill>
                <a:srgbClr val="000000"/>
              </a:solidFill>
              <a:latin typeface="Nunito"/>
              <a:ea typeface="Nunito"/>
              <a:cs typeface="Nunito"/>
              <a:sym typeface="Nunito"/>
            </a:endParaRPr>
          </a:p>
          <a:p>
            <a:pPr marL="457200" lvl="0" indent="-317182" algn="l" rtl="0">
              <a:lnSpc>
                <a:spcPct val="100000"/>
              </a:lnSpc>
              <a:spcBef>
                <a:spcPts val="0"/>
              </a:spcBef>
              <a:spcAft>
                <a:spcPts val="0"/>
              </a:spcAft>
              <a:buClr>
                <a:srgbClr val="000000"/>
              </a:buClr>
              <a:buSzPct val="100000"/>
              <a:buFont typeface="Nunito"/>
              <a:buChar char="●"/>
            </a:pPr>
            <a:r>
              <a:rPr lang="en" sz="1550" b="1" dirty="0">
                <a:solidFill>
                  <a:srgbClr val="000000"/>
                </a:solidFill>
                <a:latin typeface="Nunito"/>
                <a:ea typeface="Nunito"/>
                <a:cs typeface="Nunito"/>
                <a:sym typeface="Nunito"/>
              </a:rPr>
              <a:t>The console</a:t>
            </a:r>
            <a:r>
              <a:rPr lang="en" sz="1550" b="1" dirty="0">
                <a:solidFill>
                  <a:srgbClr val="38761D"/>
                </a:solidFill>
                <a:latin typeface="Nunito"/>
                <a:ea typeface="Nunito"/>
                <a:cs typeface="Nunito"/>
                <a:sym typeface="Nunito"/>
              </a:rPr>
              <a:t> </a:t>
            </a:r>
            <a:r>
              <a:rPr lang="en" sz="1550" b="1" dirty="0">
                <a:solidFill>
                  <a:srgbClr val="000000"/>
                </a:solidFill>
                <a:latin typeface="Nunito"/>
                <a:ea typeface="Nunito"/>
                <a:cs typeface="Nunito"/>
                <a:sym typeface="Nunito"/>
              </a:rPr>
              <a:t>prints the current value of </a:t>
            </a:r>
            <a:r>
              <a:rPr lang="en" sz="1550" b="1" dirty="0">
                <a:solidFill>
                  <a:srgbClr val="A64D79"/>
                </a:solidFill>
                <a:latin typeface="Nunito"/>
                <a:ea typeface="Nunito"/>
                <a:cs typeface="Nunito"/>
                <a:sym typeface="Nunito"/>
              </a:rPr>
              <a:t>i</a:t>
            </a:r>
            <a:r>
              <a:rPr lang="en" sz="1550" b="1" dirty="0">
                <a:solidFill>
                  <a:srgbClr val="38761D"/>
                </a:solidFill>
                <a:latin typeface="Nunito"/>
                <a:ea typeface="Nunito"/>
                <a:cs typeface="Nunito"/>
                <a:sym typeface="Nunito"/>
              </a:rPr>
              <a:t> </a:t>
            </a:r>
            <a:r>
              <a:rPr lang="en" sz="1550" b="1" dirty="0">
                <a:solidFill>
                  <a:srgbClr val="000000"/>
                </a:solidFill>
                <a:latin typeface="Nunito"/>
                <a:ea typeface="Nunito"/>
                <a:cs typeface="Nunito"/>
                <a:sym typeface="Nunito"/>
              </a:rPr>
              <a:t>followed by the string </a:t>
            </a:r>
            <a:r>
              <a:rPr lang="en" sz="1550" b="1" dirty="0">
                <a:solidFill>
                  <a:srgbClr val="A64D79"/>
                </a:solidFill>
                <a:latin typeface="Nunito"/>
                <a:ea typeface="Nunito"/>
                <a:cs typeface="Nunito"/>
                <a:sym typeface="Nunito"/>
              </a:rPr>
              <a:t>" =^.^="</a:t>
            </a:r>
            <a:r>
              <a:rPr lang="en" sz="1550" b="1" dirty="0">
                <a:solidFill>
                  <a:srgbClr val="38761D"/>
                </a:solidFill>
                <a:latin typeface="Nunito"/>
                <a:ea typeface="Nunito"/>
                <a:cs typeface="Nunito"/>
                <a:sym typeface="Nunito"/>
              </a:rPr>
              <a:t> </a:t>
            </a:r>
            <a:endParaRPr sz="1550" b="1" dirty="0">
              <a:solidFill>
                <a:srgbClr val="38761D"/>
              </a:solidFill>
              <a:latin typeface="Nunito"/>
              <a:ea typeface="Nunito"/>
              <a:cs typeface="Nunito"/>
              <a:sym typeface="Nunito"/>
            </a:endParaRPr>
          </a:p>
          <a:p>
            <a:pPr marL="457200" lvl="0" indent="0" algn="l" rtl="0">
              <a:lnSpc>
                <a:spcPct val="100000"/>
              </a:lnSpc>
              <a:spcBef>
                <a:spcPts val="0"/>
              </a:spcBef>
              <a:spcAft>
                <a:spcPts val="0"/>
              </a:spcAft>
              <a:buSzPts val="3000"/>
              <a:buNone/>
            </a:pPr>
            <a:endParaRPr sz="566" b="1" dirty="0">
              <a:solidFill>
                <a:srgbClr val="38761D"/>
              </a:solidFill>
              <a:latin typeface="Nunito"/>
              <a:ea typeface="Nunito"/>
              <a:cs typeface="Nunito"/>
              <a:sym typeface="Nunito"/>
            </a:endParaRPr>
          </a:p>
          <a:p>
            <a:pPr marL="457200" lvl="0" indent="-317182" algn="l" rtl="0">
              <a:lnSpc>
                <a:spcPct val="100000"/>
              </a:lnSpc>
              <a:spcBef>
                <a:spcPts val="0"/>
              </a:spcBef>
              <a:spcAft>
                <a:spcPts val="0"/>
              </a:spcAft>
              <a:buClr>
                <a:srgbClr val="000000"/>
              </a:buClr>
              <a:buSzPct val="100000"/>
              <a:buFont typeface="Nunito"/>
              <a:buChar char="●"/>
            </a:pPr>
            <a:r>
              <a:rPr lang="en" sz="1550" b="1" dirty="0">
                <a:solidFill>
                  <a:srgbClr val="000000"/>
                </a:solidFill>
                <a:latin typeface="Nunito"/>
                <a:ea typeface="Nunito"/>
                <a:cs typeface="Nunito"/>
                <a:sym typeface="Nunito"/>
              </a:rPr>
              <a:t>Lastly calls the drawCats function with the argument </a:t>
            </a:r>
            <a:r>
              <a:rPr lang="en" sz="1550" b="1" dirty="0">
                <a:solidFill>
                  <a:srgbClr val="A64D79"/>
                </a:solidFill>
                <a:latin typeface="Nunito"/>
                <a:ea typeface="Nunito"/>
                <a:cs typeface="Nunito"/>
                <a:sym typeface="Nunito"/>
              </a:rPr>
              <a:t>10</a:t>
            </a:r>
            <a:endParaRPr sz="1550" b="1" dirty="0">
              <a:solidFill>
                <a:srgbClr val="A64D79"/>
              </a:solidFill>
              <a:latin typeface="Nunito"/>
              <a:ea typeface="Nunito"/>
              <a:cs typeface="Nunito"/>
              <a:sym typeface="Nunito"/>
            </a:endParaRPr>
          </a:p>
          <a:p>
            <a:pPr marL="457200" lvl="0" indent="0" algn="l" rtl="0">
              <a:lnSpc>
                <a:spcPct val="100000"/>
              </a:lnSpc>
              <a:spcBef>
                <a:spcPts val="0"/>
              </a:spcBef>
              <a:spcAft>
                <a:spcPts val="0"/>
              </a:spcAft>
              <a:buSzPts val="3000"/>
              <a:buNone/>
            </a:pPr>
            <a:endParaRPr sz="600" b="1" dirty="0">
              <a:solidFill>
                <a:srgbClr val="A64D79"/>
              </a:solidFill>
              <a:latin typeface="Nunito"/>
              <a:ea typeface="Nunito"/>
              <a:cs typeface="Nunito"/>
              <a:sym typeface="Nunito"/>
            </a:endParaRPr>
          </a:p>
          <a:p>
            <a:pPr marL="0" lvl="0" indent="0" algn="l" rtl="0">
              <a:lnSpc>
                <a:spcPct val="100000"/>
              </a:lnSpc>
              <a:spcBef>
                <a:spcPts val="0"/>
              </a:spcBef>
              <a:spcAft>
                <a:spcPts val="0"/>
              </a:spcAft>
              <a:buSzPct val="196078"/>
              <a:buNone/>
            </a:pPr>
            <a:r>
              <a:rPr lang="en" sz="1700" b="1" dirty="0">
                <a:solidFill>
                  <a:srgbClr val="A64D79"/>
                </a:solidFill>
                <a:latin typeface="Nunito"/>
                <a:ea typeface="Nunito"/>
                <a:cs typeface="Nunito"/>
                <a:sym typeface="Nunito"/>
              </a:rPr>
              <a:t>NB!! A function helps your computer perform a specific task or operation, like a set of instructions.</a:t>
            </a:r>
            <a:endParaRPr sz="1700" b="1" dirty="0">
              <a:solidFill>
                <a:srgbClr val="A64D79"/>
              </a:solidFill>
              <a:latin typeface="Nunito"/>
              <a:ea typeface="Nunito"/>
              <a:cs typeface="Nunito"/>
              <a:sym typeface="Nunito"/>
            </a:endParaRPr>
          </a:p>
        </p:txBody>
      </p:sp>
      <p:sp>
        <p:nvSpPr>
          <p:cNvPr id="122" name="Google Shape;122;p19"/>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15000"/>
              </a:lnSpc>
              <a:spcBef>
                <a:spcPts val="0"/>
              </a:spcBef>
              <a:spcAft>
                <a:spcPts val="0"/>
              </a:spcAft>
              <a:buClr>
                <a:srgbClr val="000000"/>
              </a:buClr>
              <a:buSzPts val="3000"/>
              <a:buFont typeface="Arial"/>
              <a:buNone/>
            </a:pPr>
            <a:r>
              <a:rPr lang="en" sz="3000" b="1" i="0" u="none" strike="noStrike" cap="none" dirty="0">
                <a:solidFill>
                  <a:srgbClr val="FFFFFF"/>
                </a:solidFill>
                <a:latin typeface="Nunito"/>
                <a:ea typeface="Nunito"/>
                <a:cs typeface="Nunito"/>
                <a:sym typeface="Nunito"/>
              </a:rPr>
              <a:t>Writing some JavaScript  </a:t>
            </a:r>
            <a:r>
              <a:rPr lang="en" sz="3000" b="1" i="0" u="none" strike="noStrike" cap="none" dirty="0">
                <a:solidFill>
                  <a:srgbClr val="A64D79"/>
                </a:solidFill>
                <a:latin typeface="Nunito"/>
                <a:ea typeface="Nunito"/>
                <a:cs typeface="Nunito"/>
                <a:sym typeface="Nunito"/>
              </a:rPr>
              <a:t>(B-p35 &amp; L-p8)</a:t>
            </a:r>
            <a:r>
              <a:rPr lang="en" sz="3000" b="1" i="0" u="none" strike="noStrike" cap="none" dirty="0">
                <a:solidFill>
                  <a:srgbClr val="FFFFFF"/>
                </a:solidFill>
                <a:latin typeface="Nunito"/>
                <a:ea typeface="Nunito"/>
                <a:cs typeface="Nunito"/>
                <a:sym typeface="Nunito"/>
              </a:rPr>
              <a:t> </a:t>
            </a:r>
            <a:endParaRPr sz="3000" b="1" i="0" u="sng" strike="noStrike" cap="none" dirty="0">
              <a:solidFill>
                <a:srgbClr val="FFFFFF"/>
              </a:solidFill>
              <a:latin typeface="Nunito"/>
              <a:ea typeface="Nunito"/>
              <a:cs typeface="Nunito"/>
              <a:sym typeface="Nunito"/>
            </a:endParaRPr>
          </a:p>
        </p:txBody>
      </p:sp>
      <p:pic>
        <p:nvPicPr>
          <p:cNvPr id="2" name="Picture 1">
            <a:extLst>
              <a:ext uri="{FF2B5EF4-FFF2-40B4-BE49-F238E27FC236}">
                <a16:creationId xmlns:a16="http://schemas.microsoft.com/office/drawing/2014/main" id="{21D2A74F-4B45-4509-925F-52AAE01338E0}"/>
              </a:ext>
            </a:extLst>
          </p:cNvPr>
          <p:cNvPicPr>
            <a:picLocks noChangeAspect="1"/>
          </p:cNvPicPr>
          <p:nvPr/>
        </p:nvPicPr>
        <p:blipFill>
          <a:blip r:embed="rId3"/>
          <a:stretch>
            <a:fillRect/>
          </a:stretch>
        </p:blipFill>
        <p:spPr>
          <a:xfrm>
            <a:off x="4138200" y="1959375"/>
            <a:ext cx="5005799" cy="19317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txBox="1">
            <a:spLocks noGrp="1"/>
          </p:cNvSpPr>
          <p:nvPr>
            <p:ph type="title"/>
          </p:nvPr>
        </p:nvSpPr>
        <p:spPr>
          <a:xfrm>
            <a:off x="163475" y="204174"/>
            <a:ext cx="8914200" cy="4680977"/>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sz="2700" b="1" u="sng" dirty="0">
                <a:solidFill>
                  <a:srgbClr val="A64D79"/>
                </a:solidFill>
                <a:latin typeface="Nunito"/>
                <a:ea typeface="Nunito"/>
                <a:cs typeface="Nunito"/>
                <a:sym typeface="Nunito"/>
              </a:rPr>
              <a:t>Without a Function:</a:t>
            </a:r>
            <a:endParaRPr sz="2700" b="1" u="sng" dirty="0">
              <a:solidFill>
                <a:srgbClr val="A64D79"/>
              </a:solidFill>
              <a:latin typeface="Nunito"/>
              <a:ea typeface="Nunito"/>
              <a:cs typeface="Nunito"/>
              <a:sym typeface="Nunito"/>
            </a:endParaRPr>
          </a:p>
        </p:txBody>
      </p:sp>
      <p:pic>
        <p:nvPicPr>
          <p:cNvPr id="2" name="Picture 1">
            <a:extLst>
              <a:ext uri="{FF2B5EF4-FFF2-40B4-BE49-F238E27FC236}">
                <a16:creationId xmlns:a16="http://schemas.microsoft.com/office/drawing/2014/main" id="{A55E3789-5316-4491-AF44-3ECDE5145C99}"/>
              </a:ext>
            </a:extLst>
          </p:cNvPr>
          <p:cNvPicPr>
            <a:picLocks noChangeAspect="1"/>
          </p:cNvPicPr>
          <p:nvPr/>
        </p:nvPicPr>
        <p:blipFill>
          <a:blip r:embed="rId3"/>
          <a:stretch>
            <a:fillRect/>
          </a:stretch>
        </p:blipFill>
        <p:spPr>
          <a:xfrm>
            <a:off x="163475" y="1076988"/>
            <a:ext cx="7725853" cy="263879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290450" y="989650"/>
            <a:ext cx="5818500" cy="4090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800"/>
              <a:buNone/>
            </a:pPr>
            <a:r>
              <a:rPr lang="en" sz="6000" b="1" dirty="0">
                <a:solidFill>
                  <a:srgbClr val="000000"/>
                </a:solidFill>
                <a:latin typeface="Playfair Display"/>
                <a:ea typeface="Playfair Display"/>
                <a:cs typeface="Playfair Display"/>
                <a:sym typeface="Playfair Display"/>
              </a:rPr>
              <a:t>End Of Chapter 1</a:t>
            </a:r>
            <a:endParaRPr sz="6000" b="1" dirty="0">
              <a:solidFill>
                <a:srgbClr val="000000"/>
              </a:solidFill>
              <a:latin typeface="Playfair Display"/>
              <a:ea typeface="Playfair Display"/>
              <a:cs typeface="Playfair Display"/>
              <a:sym typeface="Playfair Display"/>
            </a:endParaRPr>
          </a:p>
        </p:txBody>
      </p:sp>
      <p:pic>
        <p:nvPicPr>
          <p:cNvPr id="3" name="Picture 2">
            <a:extLst>
              <a:ext uri="{FF2B5EF4-FFF2-40B4-BE49-F238E27FC236}">
                <a16:creationId xmlns:a16="http://schemas.microsoft.com/office/drawing/2014/main" id="{705755B7-87F5-4D02-A475-D2CCBB46035B}"/>
              </a:ext>
            </a:extLst>
          </p:cNvPr>
          <p:cNvPicPr>
            <a:picLocks noChangeAspect="1"/>
          </p:cNvPicPr>
          <p:nvPr/>
        </p:nvPicPr>
        <p:blipFill>
          <a:blip r:embed="rId3"/>
          <a:stretch>
            <a:fillRect/>
          </a:stretch>
        </p:blipFill>
        <p:spPr>
          <a:xfrm>
            <a:off x="6108950" y="0"/>
            <a:ext cx="3035050" cy="2022953"/>
          </a:xfrm>
          <a:prstGeom prst="rect">
            <a:avLst/>
          </a:prstGeom>
        </p:spPr>
      </p:pic>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595</TotalTime>
  <Words>563</Words>
  <Application>Microsoft Office PowerPoint</Application>
  <PresentationFormat>On-screen Show (16:9)</PresentationFormat>
  <Paragraphs>56</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Playfair Display</vt:lpstr>
      <vt:lpstr>Nunito</vt:lpstr>
      <vt:lpstr>Arial</vt:lpstr>
      <vt:lpstr>Roboto</vt:lpstr>
      <vt:lpstr>Geometric</vt:lpstr>
      <vt:lpstr>Intro To Programming JavaScript</vt:lpstr>
      <vt:lpstr>Brief Summary Of Chapter 1 What is JavaScript JavaScript Syntax Writing Some JavaScript</vt:lpstr>
      <vt:lpstr>JavaScript is a programming language that makes websites do cool stuff like changing button colors, animating, checking forms, and making games.    Your web browser runs JavaScript, which helps websites become more interactive and useful. https://www.patatap.com/ </vt:lpstr>
      <vt:lpstr>JavaScript has its own rules on how to write code, in other words it tells you how to write your code correctly so that computers can understand and execute it properly.</vt:lpstr>
      <vt:lpstr>Naming a Variable: Variable names must begin with a letter (a-z, A-Z), an underscore, or a dollar sign ($). Variable names cannot contain spaces. Variable names are case-sensitive Avoid using reserved keywords (e.g., if, for, while) as variable names.  Incrementing: Pre-increment (++x): Increases the value of x by 1 before using it.     Post-increment (x++): Uses the current value of x and then adds 1.    Decrementing: Pre-decrement (--x): Decreases the value of x by 1 before using it.    Post-decrement (x--): Uses the current value of x first, then decreases it by 1.  Comments: Comments help explain code for better understanding. // I am writing my first comment.</vt:lpstr>
      <vt:lpstr>You can start learning JavaScript right in your Google Chrome browser. First, go to a blank page by typing about:blank.  Then right-click anywhere on the page and select Inspect, then click the Console tab.  The console lets you write and test small bits of JavaScript code immediately. Chrome also highlights your code with colors to make it easier to read. </vt:lpstr>
      <vt:lpstr>This code starts by Declaring a Variable(drawCats) and Assigns a Function.  This function takes one parameter called howManyTimes, which represents the number of times we want to draw a cat.  The for loop runs the code block as long as i is less than howManyTimes, incrementing i each time.  The console prints the current value of i followed by the string " =^.^="   Lastly calls the drawCats function with the argument 10  NB!! A function helps your computer perform a specific task or operation, like a set of instructions.</vt:lpstr>
      <vt:lpstr>Without a Function:</vt:lpstr>
      <vt:lpstr>End Of Chapter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Programming JavaScript</dc:title>
  <cp:lastModifiedBy>ST MARY'S P/S</cp:lastModifiedBy>
  <cp:revision>22</cp:revision>
  <dcterms:modified xsi:type="dcterms:W3CDTF">2025-09-25T17:11:13Z</dcterms:modified>
</cp:coreProperties>
</file>