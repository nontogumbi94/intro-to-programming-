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62" r:id="rId4"/>
    <p:sldId id="258" r:id="rId5"/>
    <p:sldId id="259" r:id="rId6"/>
    <p:sldId id="260" r:id="rId7"/>
    <p:sldId id="261" r:id="rId8"/>
    <p:sldId id="263" r:id="rId9"/>
    <p:sldId id="264" r:id="rId10"/>
  </p:sldIdLst>
  <p:sldSz cx="9144000" cy="5143500" type="screen16x9"/>
  <p:notesSz cx="6858000" cy="9144000"/>
  <p:embeddedFontLst>
    <p:embeddedFont>
      <p:font typeface="Nunito" panose="020B0604020202020204" charset="0"/>
      <p:regular r:id="rId12"/>
      <p:bold r:id="rId13"/>
      <p:italic r:id="rId14"/>
      <p:boldItalic r:id="rId15"/>
    </p:embeddedFont>
    <p:embeddedFont>
      <p:font typeface="Playfair Display" panose="020B0604020202020204" charset="0"/>
      <p:regular r:id="rId16"/>
      <p:bold r:id="rId17"/>
      <p:italic r:id="rId18"/>
      <p:boldItalic r:id="rId19"/>
    </p:embeddedFont>
    <p:embeddedFont>
      <p:font typeface="Roboto"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322"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4a471722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4a4717228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w3schools.com/html/html_blocks.asp"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149225" y="1358500"/>
            <a:ext cx="8174700" cy="223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dirty="0">
                <a:solidFill>
                  <a:srgbClr val="000000"/>
                </a:solidFill>
                <a:latin typeface="Nunito"/>
                <a:ea typeface="Nunito"/>
                <a:cs typeface="Nunito"/>
                <a:sym typeface="Nunito"/>
              </a:rPr>
              <a:t>Brief Summary Of Chapter 5</a:t>
            </a:r>
            <a:endParaRPr b="1" dirty="0">
              <a:solidFill>
                <a:srgbClr val="000000"/>
              </a:solidFill>
              <a:latin typeface="Nunito"/>
              <a:ea typeface="Nunito"/>
              <a:cs typeface="Nunito"/>
              <a:sym typeface="Nunito"/>
            </a:endParaRPr>
          </a:p>
          <a:p>
            <a:pPr marL="457200" lvl="0" indent="-387350">
              <a:buClr>
                <a:srgbClr val="000000"/>
              </a:buClr>
              <a:buSzPts val="2500"/>
              <a:buFont typeface="Nunito"/>
              <a:buChar char="●"/>
            </a:pPr>
            <a:r>
              <a:rPr lang="en" sz="2500" dirty="0">
                <a:solidFill>
                  <a:srgbClr val="000000"/>
                </a:solidFill>
                <a:latin typeface="Nunito"/>
                <a:ea typeface="Nunito"/>
                <a:cs typeface="Nunito"/>
                <a:sym typeface="Nunito"/>
              </a:rPr>
              <a:t>A full HTML Document</a:t>
            </a:r>
            <a:endParaRPr sz="2500" dirty="0">
              <a:solidFill>
                <a:srgbClr val="000000"/>
              </a:solidFill>
              <a:latin typeface="Nunito"/>
              <a:ea typeface="Nunito"/>
              <a:cs typeface="Nunito"/>
              <a:sym typeface="Nunito"/>
            </a:endParaRPr>
          </a:p>
          <a:p>
            <a:pPr marL="457200" lvl="0" indent="-387350">
              <a:buClr>
                <a:srgbClr val="000000"/>
              </a:buClr>
              <a:buSzPts val="2500"/>
              <a:buFont typeface="Nunito"/>
              <a:buChar char="●"/>
            </a:pPr>
            <a:r>
              <a:rPr lang="en" sz="2500" dirty="0">
                <a:solidFill>
                  <a:srgbClr val="000000"/>
                </a:solidFill>
                <a:latin typeface="Nunito"/>
                <a:ea typeface="Nunito"/>
                <a:cs typeface="Nunito"/>
                <a:sym typeface="Nunito"/>
              </a:rPr>
              <a:t>What is HTML </a:t>
            </a:r>
            <a:endParaRPr sz="2500" dirty="0">
              <a:solidFill>
                <a:srgbClr val="000000"/>
              </a:solidFill>
              <a:latin typeface="Nunito"/>
              <a:ea typeface="Nunito"/>
              <a:cs typeface="Nunito"/>
              <a:sym typeface="Nunito"/>
            </a:endParaRPr>
          </a:p>
          <a:p>
            <a:pPr marL="457200" lvl="0" indent="-387350">
              <a:buClr>
                <a:srgbClr val="000000"/>
              </a:buClr>
              <a:buSzPts val="2500"/>
              <a:buFont typeface="Nunito"/>
              <a:buChar char="●"/>
            </a:pPr>
            <a:r>
              <a:rPr lang="en" sz="2500">
                <a:solidFill>
                  <a:srgbClr val="000000"/>
                </a:solidFill>
                <a:latin typeface="Nunito"/>
                <a:ea typeface="Nunito"/>
                <a:cs typeface="Nunito"/>
                <a:sym typeface="Nunito"/>
              </a:rPr>
              <a:t>Tags </a:t>
            </a:r>
            <a:r>
              <a:rPr lang="en" sz="2500" dirty="0">
                <a:solidFill>
                  <a:srgbClr val="000000"/>
                </a:solidFill>
                <a:latin typeface="Nunito"/>
                <a:ea typeface="Nunito"/>
                <a:cs typeface="Nunito"/>
                <a:sym typeface="Nunito"/>
              </a:rPr>
              <a:t>and Elements </a:t>
            </a:r>
            <a:endParaRPr sz="2500" dirty="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a:t>
            </a:r>
            <a:r>
              <a:rPr lang="en" sz="3000" b="1">
                <a:solidFill>
                  <a:srgbClr val="FFFFFF"/>
                </a:solidFill>
                <a:latin typeface="Nunito"/>
                <a:ea typeface="Nunito"/>
                <a:cs typeface="Nunito"/>
                <a:sym typeface="Nunito"/>
              </a:rPr>
              <a:t>5</a:t>
            </a:r>
            <a:r>
              <a:rPr lang="en" sz="3000" b="1" i="0" u="none" strike="noStrike" cap="none">
                <a:solidFill>
                  <a:srgbClr val="FFFFFF"/>
                </a:solidFill>
                <a:latin typeface="Nunito"/>
                <a:ea typeface="Nunito"/>
                <a:cs typeface="Nunito"/>
                <a:sym typeface="Nunito"/>
              </a:rPr>
              <a:t>:</a:t>
            </a:r>
            <a:br>
              <a:rPr lang="en" sz="3000" b="1" i="0" u="none" strike="noStrike" cap="none">
                <a:solidFill>
                  <a:srgbClr val="FFFFFF"/>
                </a:solidFill>
                <a:latin typeface="Nunito"/>
                <a:ea typeface="Nunito"/>
                <a:cs typeface="Nunito"/>
                <a:sym typeface="Nunito"/>
              </a:rPr>
            </a:br>
            <a:r>
              <a:rPr lang="en" sz="3000" b="1">
                <a:solidFill>
                  <a:srgbClr val="FFFFFF"/>
                </a:solidFill>
                <a:latin typeface="Nunito"/>
                <a:ea typeface="Nunito"/>
                <a:cs typeface="Nunito"/>
                <a:sym typeface="Nunito"/>
              </a:rPr>
              <a:t>The Basics of HTML</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0" y="759175"/>
            <a:ext cx="9144000" cy="540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900" b="1" u="sng">
                <a:solidFill>
                  <a:srgbClr val="A64D79"/>
                </a:solidFill>
                <a:latin typeface="Nunito"/>
                <a:ea typeface="Nunito"/>
                <a:cs typeface="Nunito"/>
                <a:sym typeface="Nunito"/>
              </a:rPr>
              <a:t>(B-p112 - 113 &amp; L-p85 - 86)</a:t>
            </a:r>
            <a:endParaRPr sz="1900" b="1" u="sng">
              <a:solidFill>
                <a:srgbClr val="A64D79"/>
              </a:solidFill>
              <a:latin typeface="Nunito"/>
              <a:ea typeface="Nunito"/>
              <a:cs typeface="Nunito"/>
              <a:sym typeface="Nunito"/>
            </a:endParaRPr>
          </a:p>
        </p:txBody>
      </p:sp>
      <p:sp>
        <p:nvSpPr>
          <p:cNvPr id="125" name="Google Shape;125;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A full HTML Document   </a:t>
            </a:r>
            <a:endParaRPr sz="3500" b="1" i="0" u="sng" strike="noStrike" cap="none">
              <a:solidFill>
                <a:srgbClr val="FFFFFF"/>
              </a:solidFill>
              <a:latin typeface="Nunito"/>
              <a:ea typeface="Nunito"/>
              <a:cs typeface="Nunito"/>
              <a:sym typeface="Nunito"/>
            </a:endParaRPr>
          </a:p>
        </p:txBody>
      </p:sp>
      <p:pic>
        <p:nvPicPr>
          <p:cNvPr id="126" name="Google Shape;126;p19" title="Screenshot 2025-04-10 105837.png"/>
          <p:cNvPicPr preferRelativeResize="0"/>
          <p:nvPr/>
        </p:nvPicPr>
        <p:blipFill>
          <a:blip r:embed="rId3">
            <a:alphaModFix/>
          </a:blip>
          <a:stretch>
            <a:fillRect/>
          </a:stretch>
        </p:blipFill>
        <p:spPr>
          <a:xfrm>
            <a:off x="201625" y="1452175"/>
            <a:ext cx="6534275" cy="2908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0" y="759175"/>
            <a:ext cx="9144000" cy="1599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500" b="1">
                <a:solidFill>
                  <a:srgbClr val="741B47"/>
                </a:solidFill>
                <a:latin typeface="Nunito"/>
                <a:ea typeface="Nunito"/>
                <a:cs typeface="Nunito"/>
                <a:sym typeface="Nunito"/>
              </a:rPr>
              <a:t>HTML (HyperText Markup Language)</a:t>
            </a:r>
            <a:r>
              <a:rPr lang="en" sz="1500" b="1">
                <a:solidFill>
                  <a:srgbClr val="000000"/>
                </a:solidFill>
                <a:latin typeface="Nunito"/>
                <a:ea typeface="Nunito"/>
                <a:cs typeface="Nunito"/>
                <a:sym typeface="Nunito"/>
              </a:rPr>
              <a:t> is the standard language used to create and structure content on the web. It uses a system of tags, called markup, to define elements like headings, paragraphs, links, and images, giving meaning and organization to a webpage. The "HyperText" part refers to the use of hyperlinks that connect different pages or sections, allowing users to navigate the web easily. HTML forms the foundation of every website, working alongside CSS for styling and JavaScript for dynamic behavior.</a:t>
            </a:r>
            <a:endParaRPr sz="2300" b="1">
              <a:solidFill>
                <a:srgbClr val="000000"/>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What is HTML</a:t>
            </a:r>
            <a:r>
              <a:rPr lang="en" sz="3000" b="1" i="0" u="none" strike="noStrike" cap="none">
                <a:solidFill>
                  <a:srgbClr val="FFFFFF"/>
                </a:solidFill>
                <a:latin typeface="Nunito"/>
                <a:ea typeface="Nunito"/>
                <a:cs typeface="Nunito"/>
                <a:sym typeface="Nunito"/>
              </a:rPr>
              <a:t>?</a:t>
            </a:r>
            <a:endParaRPr sz="3000" b="1" i="0" u="sng" strike="noStrike" cap="none">
              <a:solidFill>
                <a:srgbClr val="FFFFFF"/>
              </a:solidFill>
              <a:latin typeface="Nunito"/>
              <a:ea typeface="Nunito"/>
              <a:cs typeface="Nunito"/>
              <a:sym typeface="Nunito"/>
            </a:endParaRPr>
          </a:p>
        </p:txBody>
      </p:sp>
      <p:pic>
        <p:nvPicPr>
          <p:cNvPr id="98" name="Google Shape;98;p15"/>
          <p:cNvPicPr preferRelativeResize="0"/>
          <p:nvPr/>
        </p:nvPicPr>
        <p:blipFill>
          <a:blip r:embed="rId3">
            <a:alphaModFix/>
          </a:blip>
          <a:stretch>
            <a:fillRect/>
          </a:stretch>
        </p:blipFill>
        <p:spPr>
          <a:xfrm>
            <a:off x="257300" y="2358175"/>
            <a:ext cx="4638550" cy="2517425"/>
          </a:xfrm>
          <a:prstGeom prst="rect">
            <a:avLst/>
          </a:prstGeom>
          <a:noFill/>
          <a:ln w="9525" cap="flat" cmpd="sng">
            <a:solidFill>
              <a:srgbClr val="000000"/>
            </a:solidFill>
            <a:prstDash val="solid"/>
            <a:round/>
            <a:headEnd type="none" w="sm" len="sm"/>
            <a:tailEnd type="none" w="sm" len="sm"/>
          </a:ln>
        </p:spPr>
      </p:pic>
      <p:pic>
        <p:nvPicPr>
          <p:cNvPr id="99" name="Google Shape;99;p15"/>
          <p:cNvPicPr preferRelativeResize="0"/>
          <p:nvPr/>
        </p:nvPicPr>
        <p:blipFill rotWithShape="1">
          <a:blip r:embed="rId4">
            <a:alphaModFix/>
          </a:blip>
          <a:srcRect/>
          <a:stretch/>
        </p:blipFill>
        <p:spPr>
          <a:xfrm>
            <a:off x="4895850" y="3513525"/>
            <a:ext cx="4248150" cy="13620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Tags and Elements</a:t>
            </a:r>
            <a:endParaRPr sz="3000" b="1" i="0" u="sng" strike="noStrike" cap="none">
              <a:solidFill>
                <a:srgbClr val="FFFFFF"/>
              </a:solidFill>
              <a:latin typeface="Nunito"/>
              <a:ea typeface="Nunito"/>
              <a:cs typeface="Nunito"/>
              <a:sym typeface="Nunito"/>
            </a:endParaRPr>
          </a:p>
        </p:txBody>
      </p:sp>
      <p:sp>
        <p:nvSpPr>
          <p:cNvPr id="105" name="Google Shape;105;p16"/>
          <p:cNvSpPr txBox="1">
            <a:spLocks noGrp="1"/>
          </p:cNvSpPr>
          <p:nvPr>
            <p:ph type="title"/>
          </p:nvPr>
        </p:nvSpPr>
        <p:spPr>
          <a:xfrm>
            <a:off x="0" y="688500"/>
            <a:ext cx="9144000" cy="4198200"/>
          </a:xfrm>
          <a:prstGeom prst="rect">
            <a:avLst/>
          </a:prstGeom>
          <a:noFill/>
          <a:ln>
            <a:noFill/>
          </a:ln>
        </p:spPr>
        <p:txBody>
          <a:bodyPr spcFirstLastPara="1" wrap="square" lIns="91425" tIns="91425" rIns="91425" bIns="91425" anchor="t" anchorCtr="0">
            <a:normAutofit/>
          </a:bodyPr>
          <a:lstStyle/>
          <a:p>
            <a:pPr marL="457200" lvl="0" indent="-317500" algn="l" rtl="0">
              <a:lnSpc>
                <a:spcPct val="115000"/>
              </a:lnSpc>
              <a:spcBef>
                <a:spcPts val="1200"/>
              </a:spcBef>
              <a:spcAft>
                <a:spcPts val="0"/>
              </a:spcAft>
              <a:buClr>
                <a:srgbClr val="000000"/>
              </a:buClr>
              <a:buSzPts val="1400"/>
              <a:buFont typeface="Nunito"/>
              <a:buAutoNum type="alphaUcParenR"/>
            </a:pPr>
            <a:r>
              <a:rPr lang="en" sz="1400" b="1">
                <a:solidFill>
                  <a:srgbClr val="A64D79"/>
                </a:solidFill>
                <a:latin typeface="Nunito"/>
                <a:ea typeface="Nunito"/>
                <a:cs typeface="Nunito"/>
                <a:sym typeface="Nunito"/>
              </a:rPr>
              <a:t>Tags </a:t>
            </a:r>
            <a:r>
              <a:rPr lang="en" sz="1400" b="1">
                <a:solidFill>
                  <a:srgbClr val="000000"/>
                </a:solidFill>
                <a:latin typeface="Nunito"/>
                <a:ea typeface="Nunito"/>
                <a:cs typeface="Nunito"/>
                <a:sym typeface="Nunito"/>
              </a:rPr>
              <a:t>are crucial because they give structure and meaning to your content. Without tags, a webpage would just be one big block of text — no headings, no formatting, no organization.</a:t>
            </a:r>
            <a:endParaRPr sz="1400" b="1">
              <a:solidFill>
                <a:srgbClr val="000000"/>
              </a:solidFill>
              <a:latin typeface="Nunito"/>
              <a:ea typeface="Nunito"/>
              <a:cs typeface="Nunito"/>
              <a:sym typeface="Nunito"/>
            </a:endParaRPr>
          </a:p>
          <a:p>
            <a:pPr marL="457200" lvl="0" indent="0" algn="l" rtl="0">
              <a:lnSpc>
                <a:spcPct val="115000"/>
              </a:lnSpc>
              <a:spcBef>
                <a:spcPts val="1200"/>
              </a:spcBef>
              <a:spcAft>
                <a:spcPts val="0"/>
              </a:spcAft>
              <a:buNone/>
            </a:pPr>
            <a:r>
              <a:rPr lang="en" sz="1400" b="1">
                <a:solidFill>
                  <a:srgbClr val="000000"/>
                </a:solidFill>
                <a:latin typeface="Nunito"/>
                <a:ea typeface="Nunito"/>
                <a:cs typeface="Nunito"/>
                <a:sym typeface="Nunito"/>
              </a:rPr>
              <a:t>Using the right tags helps browsers display content properly and makes your site more accessible and readable for users (and search engines too!).</a:t>
            </a:r>
            <a:endParaRPr sz="1400" b="1">
              <a:solidFill>
                <a:srgbClr val="A64D79"/>
              </a:solidFill>
              <a:latin typeface="Nunito"/>
              <a:ea typeface="Nunito"/>
              <a:cs typeface="Nunito"/>
              <a:sym typeface="Nunito"/>
            </a:endParaRPr>
          </a:p>
          <a:p>
            <a:pPr marL="457200" lvl="0" indent="0" algn="l" rtl="0">
              <a:lnSpc>
                <a:spcPct val="115000"/>
              </a:lnSpc>
              <a:spcBef>
                <a:spcPts val="1200"/>
              </a:spcBef>
              <a:spcAft>
                <a:spcPts val="0"/>
              </a:spcAft>
              <a:buNone/>
            </a:pPr>
            <a:r>
              <a:rPr lang="en" sz="1400" b="1">
                <a:solidFill>
                  <a:srgbClr val="A64D79"/>
                </a:solidFill>
                <a:latin typeface="Nunito"/>
                <a:ea typeface="Nunito"/>
                <a:cs typeface="Nunito"/>
                <a:sym typeface="Nunito"/>
              </a:rPr>
              <a:t>Tags </a:t>
            </a:r>
            <a:r>
              <a:rPr lang="en" sz="1400" b="1">
                <a:solidFill>
                  <a:srgbClr val="000000"/>
                </a:solidFill>
                <a:latin typeface="Nunito"/>
                <a:ea typeface="Nunito"/>
                <a:cs typeface="Nunito"/>
                <a:sym typeface="Nunito"/>
              </a:rPr>
              <a:t>are the building blocks of HTML. They are used to mark up content and structure a webpage. Tags are enclosed in angle brackets, like</a:t>
            </a:r>
            <a:r>
              <a:rPr lang="en" sz="1400" b="1">
                <a:solidFill>
                  <a:srgbClr val="A64D79"/>
                </a:solidFill>
                <a:latin typeface="Nunito"/>
                <a:ea typeface="Nunito"/>
                <a:cs typeface="Nunito"/>
                <a:sym typeface="Nunito"/>
              </a:rPr>
              <a:t> &lt; &gt;</a:t>
            </a:r>
            <a:r>
              <a:rPr lang="en" sz="1400" b="1">
                <a:solidFill>
                  <a:srgbClr val="000000"/>
                </a:solidFill>
                <a:latin typeface="Nunito"/>
                <a:ea typeface="Nunito"/>
                <a:cs typeface="Nunito"/>
                <a:sym typeface="Nunito"/>
              </a:rPr>
              <a:t>. For example:</a:t>
            </a:r>
            <a:endParaRPr sz="1400" b="1">
              <a:solidFill>
                <a:srgbClr val="000000"/>
              </a:solidFill>
              <a:latin typeface="Nunito"/>
              <a:ea typeface="Nunito"/>
              <a:cs typeface="Nunito"/>
              <a:sym typeface="Nunito"/>
            </a:endParaRPr>
          </a:p>
          <a:p>
            <a:pPr marL="457200" lvl="0" indent="-317500" algn="l" rtl="0">
              <a:lnSpc>
                <a:spcPct val="115000"/>
              </a:lnSpc>
              <a:spcBef>
                <a:spcPts val="1200"/>
              </a:spcBef>
              <a:spcAft>
                <a:spcPts val="0"/>
              </a:spcAft>
              <a:buClr>
                <a:srgbClr val="000000"/>
              </a:buClr>
              <a:buSzPts val="1400"/>
              <a:buFont typeface="Arial"/>
              <a:buChar char="●"/>
            </a:pPr>
            <a:r>
              <a:rPr lang="en" sz="1400" b="1">
                <a:solidFill>
                  <a:srgbClr val="A64D79"/>
                </a:solidFill>
                <a:latin typeface="Nunito"/>
                <a:ea typeface="Nunito"/>
                <a:cs typeface="Nunito"/>
                <a:sym typeface="Nunito"/>
              </a:rPr>
              <a:t>&lt;p&gt;</a:t>
            </a:r>
            <a:r>
              <a:rPr lang="en" sz="1400" b="1">
                <a:solidFill>
                  <a:srgbClr val="000000"/>
                </a:solidFill>
                <a:latin typeface="Nunito"/>
                <a:ea typeface="Nunito"/>
                <a:cs typeface="Nunito"/>
                <a:sym typeface="Nunito"/>
              </a:rPr>
              <a:t> is a tag used to define a paragraph</a:t>
            </a:r>
            <a:endParaRPr sz="1400" b="1">
              <a:solidFill>
                <a:srgbClr val="000000"/>
              </a:solidFill>
              <a:latin typeface="Nunito"/>
              <a:ea typeface="Nunito"/>
              <a:cs typeface="Nunito"/>
              <a:sym typeface="Nunito"/>
            </a:endParaRPr>
          </a:p>
          <a:p>
            <a:pPr marL="457200" lvl="0" indent="-317500" algn="l" rtl="0">
              <a:lnSpc>
                <a:spcPct val="115000"/>
              </a:lnSpc>
              <a:spcBef>
                <a:spcPts val="0"/>
              </a:spcBef>
              <a:spcAft>
                <a:spcPts val="0"/>
              </a:spcAft>
              <a:buClr>
                <a:srgbClr val="000000"/>
              </a:buClr>
              <a:buSzPts val="1400"/>
              <a:buFont typeface="Arial"/>
              <a:buChar char="●"/>
            </a:pPr>
            <a:r>
              <a:rPr lang="en" sz="1400" b="1">
                <a:solidFill>
                  <a:srgbClr val="A64D79"/>
                </a:solidFill>
                <a:latin typeface="Nunito"/>
                <a:ea typeface="Nunito"/>
                <a:cs typeface="Nunito"/>
                <a:sym typeface="Nunito"/>
              </a:rPr>
              <a:t>&lt;h1&gt;</a:t>
            </a:r>
            <a:r>
              <a:rPr lang="en" sz="1400" b="1">
                <a:solidFill>
                  <a:srgbClr val="000000"/>
                </a:solidFill>
                <a:latin typeface="Nunito"/>
                <a:ea typeface="Nunito"/>
                <a:cs typeface="Nunito"/>
                <a:sym typeface="Nunito"/>
              </a:rPr>
              <a:t> is a tag used to define a heading</a:t>
            </a:r>
            <a:endParaRPr sz="14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a:solidFill>
                <a:srgbClr val="000000"/>
              </a:solidFill>
              <a:latin typeface="Nunito"/>
              <a:ea typeface="Nunito"/>
              <a:cs typeface="Nunito"/>
              <a:sym typeface="Nunito"/>
            </a:endParaRPr>
          </a:p>
          <a:p>
            <a:pPr marL="457200" lvl="0" indent="-317500" algn="l" rtl="0">
              <a:lnSpc>
                <a:spcPct val="115000"/>
              </a:lnSpc>
              <a:spcBef>
                <a:spcPts val="1200"/>
              </a:spcBef>
              <a:spcAft>
                <a:spcPts val="0"/>
              </a:spcAft>
              <a:buClr>
                <a:srgbClr val="000000"/>
              </a:buClr>
              <a:buSzPts val="1400"/>
              <a:buFont typeface="Nunito"/>
              <a:buAutoNum type="alphaUcParenR"/>
            </a:pPr>
            <a:r>
              <a:rPr lang="en" sz="1400" b="1">
                <a:solidFill>
                  <a:srgbClr val="000000"/>
                </a:solidFill>
                <a:latin typeface="Nunito"/>
                <a:ea typeface="Nunito"/>
                <a:cs typeface="Nunito"/>
                <a:sym typeface="Nunito"/>
              </a:rPr>
              <a:t>An HTML element consists of three parts: a start tag, some content, and an end tag. Here's a simple example:     </a:t>
            </a:r>
            <a:endParaRPr sz="1400" b="1">
              <a:solidFill>
                <a:srgbClr val="000000"/>
              </a:solidFill>
              <a:latin typeface="Nunito"/>
              <a:ea typeface="Nunito"/>
              <a:cs typeface="Nunito"/>
              <a:sym typeface="Nunito"/>
            </a:endParaRPr>
          </a:p>
          <a:p>
            <a:pPr marL="457200" lvl="0" indent="-317500" algn="l" rtl="0">
              <a:lnSpc>
                <a:spcPct val="115000"/>
              </a:lnSpc>
              <a:spcBef>
                <a:spcPts val="0"/>
              </a:spcBef>
              <a:spcAft>
                <a:spcPts val="0"/>
              </a:spcAft>
              <a:buClr>
                <a:srgbClr val="000000"/>
              </a:buClr>
              <a:buSzPts val="1400"/>
              <a:buFont typeface="Nunito"/>
              <a:buChar char="●"/>
            </a:pPr>
            <a:r>
              <a:rPr lang="en" sz="1400" b="1">
                <a:solidFill>
                  <a:srgbClr val="A64D79"/>
                </a:solidFill>
                <a:latin typeface="Nunito"/>
                <a:ea typeface="Nunito"/>
                <a:cs typeface="Nunito"/>
                <a:sym typeface="Nunito"/>
              </a:rPr>
              <a:t>&lt;p&gt;This is a paragraph.&lt;/p&gt;</a:t>
            </a:r>
            <a:endParaRPr sz="1400" b="1">
              <a:solidFill>
                <a:srgbClr val="A64D79"/>
              </a:solidFill>
              <a:latin typeface="Nunito"/>
              <a:ea typeface="Nunito"/>
              <a:cs typeface="Nunito"/>
              <a:sym typeface="Nunito"/>
            </a:endParaRPr>
          </a:p>
          <a:p>
            <a:pPr marL="457200" lvl="0" indent="-317500" algn="l" rtl="0">
              <a:lnSpc>
                <a:spcPct val="115000"/>
              </a:lnSpc>
              <a:spcBef>
                <a:spcPts val="0"/>
              </a:spcBef>
              <a:spcAft>
                <a:spcPts val="0"/>
              </a:spcAft>
              <a:buClr>
                <a:srgbClr val="000000"/>
              </a:buClr>
              <a:buSzPts val="1400"/>
              <a:buFont typeface="Nunito"/>
              <a:buChar char="●"/>
            </a:pPr>
            <a:r>
              <a:rPr lang="en" sz="1400" b="1">
                <a:solidFill>
                  <a:srgbClr val="A64D79"/>
                </a:solidFill>
                <a:latin typeface="Nunito"/>
                <a:ea typeface="Nunito"/>
                <a:cs typeface="Nunito"/>
                <a:sym typeface="Nunito"/>
              </a:rPr>
              <a:t>&lt;h1&gt;First-level heading&lt;/h1&gt;</a:t>
            </a:r>
            <a:endParaRPr sz="1400" b="1">
              <a:solidFill>
                <a:srgbClr val="A64D79"/>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idx="4294967295"/>
          </p:nvPr>
        </p:nvSpPr>
        <p:spPr>
          <a:xfrm>
            <a:off x="0" y="21545"/>
            <a:ext cx="9144000" cy="51219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3000"/>
              <a:buFont typeface="Arial"/>
              <a:buNone/>
            </a:pPr>
            <a:r>
              <a:rPr lang="en" sz="1900" b="1" u="sng">
                <a:solidFill>
                  <a:srgbClr val="A64D79"/>
                </a:solidFill>
                <a:latin typeface="Nunito"/>
                <a:ea typeface="Nunito"/>
                <a:cs typeface="Nunito"/>
                <a:sym typeface="Nunito"/>
              </a:rPr>
              <a:t>What would our page look like with and without the tags:</a:t>
            </a:r>
            <a:r>
              <a:rPr lang="en" sz="2000" b="1">
                <a:solidFill>
                  <a:srgbClr val="A64D79"/>
                </a:solidFill>
                <a:latin typeface="Nunito"/>
                <a:ea typeface="Nunito"/>
                <a:cs typeface="Nunito"/>
                <a:sym typeface="Nunito"/>
              </a:rPr>
              <a:t>     (</a:t>
            </a:r>
            <a:r>
              <a:rPr lang="en" sz="1800" b="1">
                <a:solidFill>
                  <a:srgbClr val="A64D79"/>
                </a:solidFill>
                <a:latin typeface="Nunito"/>
                <a:ea typeface="Nunito"/>
                <a:cs typeface="Nunito"/>
                <a:sym typeface="Nunito"/>
              </a:rPr>
              <a:t>B-p108 &amp; L-p81)</a:t>
            </a:r>
            <a:br>
              <a:rPr lang="en" sz="1800" b="1">
                <a:solidFill>
                  <a:srgbClr val="38761D"/>
                </a:solidFill>
                <a:latin typeface="Nunito"/>
                <a:ea typeface="Nunito"/>
                <a:cs typeface="Nunito"/>
                <a:sym typeface="Nunito"/>
              </a:rPr>
            </a:br>
            <a:endParaRPr sz="1800" b="1">
              <a:solidFill>
                <a:srgbClr val="38761D"/>
              </a:solidFill>
              <a:latin typeface="Nunito"/>
              <a:ea typeface="Nunito"/>
              <a:cs typeface="Nunito"/>
              <a:sym typeface="Nunito"/>
            </a:endParaRPr>
          </a:p>
        </p:txBody>
      </p:sp>
      <p:pic>
        <p:nvPicPr>
          <p:cNvPr id="111" name="Google Shape;111;p17" title="Screenshot 2025-04-10 102518.png"/>
          <p:cNvPicPr preferRelativeResize="0"/>
          <p:nvPr/>
        </p:nvPicPr>
        <p:blipFill>
          <a:blip r:embed="rId3">
            <a:alphaModFix/>
          </a:blip>
          <a:stretch>
            <a:fillRect/>
          </a:stretch>
        </p:blipFill>
        <p:spPr>
          <a:xfrm>
            <a:off x="65425" y="439900"/>
            <a:ext cx="5014475" cy="2988700"/>
          </a:xfrm>
          <a:prstGeom prst="rect">
            <a:avLst/>
          </a:prstGeom>
          <a:noFill/>
          <a:ln w="9525" cap="flat" cmpd="sng">
            <a:solidFill>
              <a:srgbClr val="000000"/>
            </a:solidFill>
            <a:prstDash val="solid"/>
            <a:round/>
            <a:headEnd type="none" w="sm" len="sm"/>
            <a:tailEnd type="none" w="sm" len="sm"/>
          </a:ln>
        </p:spPr>
      </p:pic>
      <p:pic>
        <p:nvPicPr>
          <p:cNvPr id="112" name="Google Shape;112;p17"/>
          <p:cNvPicPr preferRelativeResize="0"/>
          <p:nvPr/>
        </p:nvPicPr>
        <p:blipFill>
          <a:blip r:embed="rId4">
            <a:alphaModFix/>
          </a:blip>
          <a:stretch>
            <a:fillRect/>
          </a:stretch>
        </p:blipFill>
        <p:spPr>
          <a:xfrm>
            <a:off x="4169150" y="3428600"/>
            <a:ext cx="4895850" cy="16594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idx="4294967295"/>
          </p:nvPr>
        </p:nvSpPr>
        <p:spPr>
          <a:xfrm>
            <a:off x="0" y="21545"/>
            <a:ext cx="9144000" cy="51219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2100" b="1" u="sng">
                <a:solidFill>
                  <a:srgbClr val="A64D79"/>
                </a:solidFill>
                <a:latin typeface="Nunito"/>
                <a:ea typeface="Nunito"/>
                <a:cs typeface="Nunito"/>
                <a:sym typeface="Nunito"/>
              </a:rPr>
              <a:t>Inline Elements</a:t>
            </a:r>
            <a:r>
              <a:rPr lang="en" sz="2100" b="1">
                <a:solidFill>
                  <a:srgbClr val="A64D79"/>
                </a:solidFill>
                <a:latin typeface="Nunito"/>
                <a:ea typeface="Nunito"/>
                <a:cs typeface="Nunito"/>
                <a:sym typeface="Nunito"/>
              </a:rPr>
              <a:t>  </a:t>
            </a:r>
            <a:r>
              <a:rPr lang="en" sz="2100" b="1" u="sng">
                <a:solidFill>
                  <a:srgbClr val="A64D79"/>
                </a:solidFill>
                <a:latin typeface="Nunito"/>
                <a:ea typeface="Nunito"/>
                <a:cs typeface="Nunito"/>
                <a:sym typeface="Nunito"/>
              </a:rPr>
              <a:t>B-p109 &amp; L-p82</a:t>
            </a:r>
            <a:endParaRPr sz="2100" b="1" u="sng">
              <a:solidFill>
                <a:srgbClr val="A64D79"/>
              </a:solidFill>
              <a:latin typeface="Nunito"/>
              <a:ea typeface="Nunito"/>
              <a:cs typeface="Nunito"/>
              <a:sym typeface="Nunito"/>
            </a:endParaRPr>
          </a:p>
          <a:p>
            <a:pPr marL="457200" lvl="0" indent="-317500" algn="l" rtl="0">
              <a:lnSpc>
                <a:spcPct val="100000"/>
              </a:lnSpc>
              <a:spcBef>
                <a:spcPts val="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The </a:t>
            </a:r>
            <a:r>
              <a:rPr lang="en" sz="1400" b="1">
                <a:solidFill>
                  <a:srgbClr val="A64D79"/>
                </a:solidFill>
                <a:latin typeface="Nunito"/>
                <a:ea typeface="Nunito"/>
                <a:cs typeface="Nunito"/>
                <a:sym typeface="Nunito"/>
              </a:rPr>
              <a:t>em </a:t>
            </a:r>
            <a:r>
              <a:rPr lang="en" sz="1400" b="1">
                <a:solidFill>
                  <a:srgbClr val="000000"/>
                </a:solidFill>
                <a:latin typeface="Nunito"/>
                <a:ea typeface="Nunito"/>
                <a:cs typeface="Nunito"/>
                <a:sym typeface="Nunito"/>
              </a:rPr>
              <a:t>element makes its content italic. </a:t>
            </a:r>
            <a:endParaRPr sz="1400" b="1">
              <a:solidFill>
                <a:srgbClr val="000000"/>
              </a:solidFill>
              <a:latin typeface="Nunito"/>
              <a:ea typeface="Nunito"/>
              <a:cs typeface="Nunito"/>
              <a:sym typeface="Nunito"/>
            </a:endParaRPr>
          </a:p>
          <a:p>
            <a:pPr marL="457200" lvl="0" indent="-317500" algn="l" rtl="0">
              <a:lnSpc>
                <a:spcPct val="100000"/>
              </a:lnSpc>
              <a:spcBef>
                <a:spcPts val="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The </a:t>
            </a:r>
            <a:r>
              <a:rPr lang="en" sz="1400" b="1">
                <a:solidFill>
                  <a:srgbClr val="A64D79"/>
                </a:solidFill>
                <a:latin typeface="Nunito"/>
                <a:ea typeface="Nunito"/>
                <a:cs typeface="Nunito"/>
                <a:sym typeface="Nunito"/>
              </a:rPr>
              <a:t>strong </a:t>
            </a:r>
            <a:r>
              <a:rPr lang="en" sz="1400" b="1">
                <a:solidFill>
                  <a:srgbClr val="000000"/>
                </a:solidFill>
                <a:latin typeface="Nunito"/>
                <a:ea typeface="Nunito"/>
                <a:cs typeface="Nunito"/>
                <a:sym typeface="Nunito"/>
              </a:rPr>
              <a:t>element makes its content bold. </a:t>
            </a:r>
            <a:endParaRPr sz="1400" b="1">
              <a:solidFill>
                <a:srgbClr val="000000"/>
              </a:solidFill>
              <a:latin typeface="Nunito"/>
              <a:ea typeface="Nunito"/>
              <a:cs typeface="Nunito"/>
              <a:sym typeface="Nunito"/>
            </a:endParaRPr>
          </a:p>
          <a:p>
            <a:pPr marL="457200" lvl="0" indent="-317500" algn="l" rtl="0">
              <a:lnSpc>
                <a:spcPct val="100000"/>
              </a:lnSpc>
              <a:spcBef>
                <a:spcPts val="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The em and strong elements are both inline elements, which means that they don’t put their content onto a new line, as block-level elements do.</a:t>
            </a:r>
            <a:endParaRPr sz="1400" b="1">
              <a:solidFill>
                <a:srgbClr val="000000"/>
              </a:solidFill>
              <a:latin typeface="Nunito"/>
              <a:ea typeface="Nunito"/>
              <a:cs typeface="Nunito"/>
              <a:sym typeface="Nunito"/>
            </a:endParaRPr>
          </a:p>
          <a:p>
            <a:pPr marL="457200" lvl="0" indent="-317500" algn="l" rtl="0">
              <a:lnSpc>
                <a:spcPct val="100000"/>
              </a:lnSpc>
              <a:spcBef>
                <a:spcPts val="0"/>
              </a:spcBef>
              <a:spcAft>
                <a:spcPts val="0"/>
              </a:spcAft>
              <a:buClr>
                <a:srgbClr val="000000"/>
              </a:buClr>
              <a:buSzPts val="1400"/>
              <a:buFont typeface="Nunito"/>
              <a:buChar char="●"/>
            </a:pPr>
            <a:r>
              <a:rPr lang="en" sz="1400" b="1">
                <a:solidFill>
                  <a:srgbClr val="000000"/>
                </a:solidFill>
                <a:latin typeface="Nunito"/>
                <a:ea typeface="Nunito"/>
                <a:cs typeface="Nunito"/>
                <a:sym typeface="Nunito"/>
              </a:rPr>
              <a:t>Block level elements and inline elements:</a:t>
            </a:r>
            <a:r>
              <a:rPr lang="en" sz="1400" b="1" u="sng">
                <a:solidFill>
                  <a:srgbClr val="000000"/>
                </a:solidFill>
                <a:latin typeface="Nunito"/>
                <a:ea typeface="Nunito"/>
                <a:cs typeface="Nunito"/>
                <a:sym typeface="Nunito"/>
              </a:rPr>
              <a:t> </a:t>
            </a:r>
            <a:r>
              <a:rPr lang="en" sz="1400" b="1" u="sng">
                <a:solidFill>
                  <a:schemeClr val="hlink"/>
                </a:solidFill>
                <a:latin typeface="Nunito"/>
                <a:ea typeface="Nunito"/>
                <a:cs typeface="Nunito"/>
                <a:sym typeface="Nunito"/>
                <a:hlinkClick r:id="rId3"/>
              </a:rPr>
              <a:t>https://www.w3schools.com/html/html_blocks.asp</a:t>
            </a:r>
            <a:endParaRPr sz="1400" b="1">
              <a:solidFill>
                <a:srgbClr val="A64D79"/>
              </a:solidFill>
              <a:latin typeface="Nunito"/>
              <a:ea typeface="Nunito"/>
              <a:cs typeface="Nunito"/>
              <a:sym typeface="Nunito"/>
            </a:endParaRPr>
          </a:p>
        </p:txBody>
      </p:sp>
      <p:pic>
        <p:nvPicPr>
          <p:cNvPr id="118" name="Google Shape;118;p18"/>
          <p:cNvPicPr preferRelativeResize="0"/>
          <p:nvPr/>
        </p:nvPicPr>
        <p:blipFill>
          <a:blip r:embed="rId4">
            <a:alphaModFix/>
          </a:blip>
          <a:stretch>
            <a:fillRect/>
          </a:stretch>
        </p:blipFill>
        <p:spPr>
          <a:xfrm>
            <a:off x="60400" y="1699750"/>
            <a:ext cx="4691275" cy="3413925"/>
          </a:xfrm>
          <a:prstGeom prst="rect">
            <a:avLst/>
          </a:prstGeom>
          <a:noFill/>
          <a:ln w="9525" cap="flat" cmpd="sng">
            <a:solidFill>
              <a:srgbClr val="000000"/>
            </a:solidFill>
            <a:prstDash val="solid"/>
            <a:round/>
            <a:headEnd type="none" w="sm" len="sm"/>
            <a:tailEnd type="none" w="sm" len="sm"/>
          </a:ln>
        </p:spPr>
      </p:pic>
      <p:pic>
        <p:nvPicPr>
          <p:cNvPr id="119" name="Google Shape;119;p18"/>
          <p:cNvPicPr preferRelativeResize="0"/>
          <p:nvPr/>
        </p:nvPicPr>
        <p:blipFill>
          <a:blip r:embed="rId5">
            <a:alphaModFix/>
          </a:blip>
          <a:stretch>
            <a:fillRect/>
          </a:stretch>
        </p:blipFill>
        <p:spPr>
          <a:xfrm>
            <a:off x="4751667" y="2333837"/>
            <a:ext cx="4359084" cy="20574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32" name="Google Shape;132;p20"/>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000"/>
              <a:buNone/>
            </a:pPr>
            <a:r>
              <a:rPr lang="en" sz="1900" b="1">
                <a:solidFill>
                  <a:srgbClr val="000000"/>
                </a:solidFill>
                <a:latin typeface="Nunito"/>
                <a:ea typeface="Nunito"/>
                <a:cs typeface="Nunito"/>
                <a:sym typeface="Nunito"/>
              </a:rPr>
              <a:t>Do the try outs then upload to github.</a:t>
            </a:r>
            <a:endParaRPr sz="1900" b="1">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a:solidFill>
                  <a:srgbClr val="000000"/>
                </a:solidFill>
                <a:latin typeface="Nunito"/>
                <a:ea typeface="Nunito"/>
                <a:cs typeface="Nunito"/>
                <a:sym typeface="Nunito"/>
              </a:rPr>
              <a:t>Page (B-115 &amp; L-88)</a:t>
            </a:r>
            <a:endParaRPr sz="1400" b="1">
              <a:solidFill>
                <a:srgbClr val="000000"/>
              </a:solidFill>
              <a:latin typeface="Nunito"/>
              <a:ea typeface="Nunito"/>
              <a:cs typeface="Nunito"/>
              <a:sym typeface="Nunito"/>
            </a:endParaRPr>
          </a:p>
        </p:txBody>
      </p:sp>
      <p:pic>
        <p:nvPicPr>
          <p:cNvPr id="133" name="Google Shape;133;p20"/>
          <p:cNvPicPr preferRelativeResize="0"/>
          <p:nvPr/>
        </p:nvPicPr>
        <p:blipFill rotWithShape="1">
          <a:blip r:embed="rId3">
            <a:alphaModFix/>
          </a:blip>
          <a:srcRect/>
          <a:stretch/>
        </p:blipFill>
        <p:spPr>
          <a:xfrm>
            <a:off x="3614546" y="1300413"/>
            <a:ext cx="3115200" cy="2979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24060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5</a:t>
            </a:r>
            <a:endParaRPr sz="6000" b="1">
              <a:solidFill>
                <a:srgbClr val="000000"/>
              </a:solidFill>
              <a:latin typeface="Playfair Display"/>
              <a:ea typeface="Playfair Display"/>
              <a:cs typeface="Playfair Display"/>
              <a:sym typeface="Playfair Display"/>
            </a:endParaRPr>
          </a:p>
        </p:txBody>
      </p:sp>
      <p:pic>
        <p:nvPicPr>
          <p:cNvPr id="139" name="Google Shape;139;p21"/>
          <p:cNvPicPr preferRelativeResize="0"/>
          <p:nvPr/>
        </p:nvPicPr>
        <p:blipFill>
          <a:blip r:embed="rId3">
            <a:alphaModFix/>
          </a:blip>
          <a:stretch>
            <a:fillRect/>
          </a:stretch>
        </p:blipFill>
        <p:spPr>
          <a:xfrm>
            <a:off x="6059100" y="0"/>
            <a:ext cx="3084900" cy="213657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412</Words>
  <Application>Microsoft Office PowerPoint</Application>
  <PresentationFormat>On-screen Show (16:9)</PresentationFormat>
  <Paragraphs>30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Nunito</vt:lpstr>
      <vt:lpstr>Roboto</vt:lpstr>
      <vt:lpstr>Arial</vt:lpstr>
      <vt:lpstr>Playfair Display</vt:lpstr>
      <vt:lpstr>Geometric</vt:lpstr>
      <vt:lpstr>Intro To Programming JavaScript</vt:lpstr>
      <vt:lpstr>Brief Summary Of Chapter 5 A full HTML Document What is HTML  Tags and Elements </vt:lpstr>
      <vt:lpstr>(B-p112 - 113 &amp; L-p85 - 86)</vt:lpstr>
      <vt:lpstr>HTML (HyperText Markup Language) is the standard language used to create and structure content on the web. It uses a system of tags, called markup, to define elements like headings, paragraphs, links, and images, giving meaning and organization to a webpage. The "HyperText" part refers to the use of hyperlinks that connect different pages or sections, allowing users to navigate the web easily. HTML forms the foundation of every website, working alongside CSS for styling and JavaScript for dynamic behavior.</vt:lpstr>
      <vt:lpstr>Tags are crucial because they give structure and meaning to your content. Without tags, a webpage would just be one big block of text — no headings, no formatting, no organization. Using the right tags helps browsers display content properly and makes your site more accessible and readable for users (and search engines too!). Tags are the building blocks of HTML. They are used to mark up content and structure a webpage. Tags are enclosed in angle brackets, like &lt; &gt;. For example: &lt;p&gt; is a tag used to define a paragraph &lt;h1&gt; is a tag used to define a heading  An HTML element consists of three parts: a start tag, some content, and an end tag. Here's a simple example:      &lt;p&gt;This is a paragraph.&lt;/p&gt; &lt;h1&gt;First-level heading&lt;/h1&gt;</vt:lpstr>
      <vt:lpstr>What would our page look like with and without the tags:     (B-p108 &amp; L-p81) </vt:lpstr>
      <vt:lpstr>Inline Elements  B-p109 &amp; L-p82 The em element makes its content italic.  The strong element makes its content bold.  The em and strong elements are both inline elements, which means that they don’t put their content onto a new line, as block-level elements do. Block level elements and inline elements: https://www.w3schools.com/html/html_blocks.asp</vt:lpstr>
      <vt:lpstr>Do the try outs then upload to github. Page (B-115 &amp; L-88)</vt:lpstr>
      <vt:lpstr>End Of Chapter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2</cp:revision>
  <dcterms:modified xsi:type="dcterms:W3CDTF">2025-06-23T15:51:43Z</dcterms:modified>
</cp:coreProperties>
</file>