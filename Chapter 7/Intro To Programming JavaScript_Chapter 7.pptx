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embeddedFontLst>
    <p:embeddedFont>
      <p:font typeface="Nunito" panose="020B0604020202020204" charset="0"/>
      <p:regular r:id="rId13"/>
      <p:bold r:id="rId14"/>
      <p:italic r:id="rId15"/>
      <p:boldItalic r:id="rId16"/>
    </p:embeddedFont>
    <p:embeddedFont>
      <p:font typeface="Playfair Display" panose="020B0604020202020204" charset="0"/>
      <p:regular r:id="rId17"/>
      <p:bold r:id="rId18"/>
      <p:italic r:id="rId19"/>
      <p:boldItalic r:id="rId20"/>
    </p:embeddedFont>
    <p:embeddedFont>
      <p:font typeface="Roboto" panose="020B060402020202020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4D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2" d="100"/>
          <a:sy n="122" d="100"/>
        </p:scale>
        <p:origin x="322" y="8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 name="Google Shape;8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4b68b482de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g34b68b482de_0_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4b68b482de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34b68b482de_0_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4b68b482de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 name="Google Shape;123;g34b68b482de_0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4b68b482de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g34b68b482de_0_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 name="Google Shape;136;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 name="Google Shape;16;p2"/>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17" name="Google Shape;17;p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grpSp>
        <p:nvGrpSpPr>
          <p:cNvPr id="19" name="Google Shape;19;p3"/>
          <p:cNvGrpSpPr/>
          <p:nvPr/>
        </p:nvGrpSpPr>
        <p:grpSpPr>
          <a:xfrm>
            <a:off x="0" y="3903669"/>
            <a:ext cx="9144000" cy="1239925"/>
            <a:chOff x="0" y="3903669"/>
            <a:chExt cx="9144000" cy="1239925"/>
          </a:xfrm>
        </p:grpSpPr>
        <p:sp>
          <p:nvSpPr>
            <p:cNvPr id="20" name="Google Shape;20;p3"/>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3"/>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3"/>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 name="Google Shape;25;p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6" name="Google Shape;26;p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4"/>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30"/>
        <p:cNvGrpSpPr/>
        <p:nvPr/>
      </p:nvGrpSpPr>
      <p:grpSpPr>
        <a:xfrm>
          <a:off x="0" y="0"/>
          <a:ext cx="0" cy="0"/>
          <a:chOff x="0" y="0"/>
          <a:chExt cx="0" cy="0"/>
        </a:xfrm>
      </p:grpSpPr>
      <p:grpSp>
        <p:nvGrpSpPr>
          <p:cNvPr id="31" name="Google Shape;31;p5"/>
          <p:cNvGrpSpPr/>
          <p:nvPr/>
        </p:nvGrpSpPr>
        <p:grpSpPr>
          <a:xfrm>
            <a:off x="6098378" y="5"/>
            <a:ext cx="3045625" cy="2030570"/>
            <a:chOff x="6098378" y="5"/>
            <a:chExt cx="3045625" cy="2030570"/>
          </a:xfrm>
        </p:grpSpPr>
        <p:sp>
          <p:nvSpPr>
            <p:cNvPr id="32" name="Google Shape;32;p5"/>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5"/>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5"/>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5"/>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5"/>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7" name="Google Shape;37;p5"/>
          <p:cNvSpPr txBox="1">
            <a:spLocks noGrp="1"/>
          </p:cNvSpPr>
          <p:nvPr>
            <p:ph type="ctrTitle"/>
          </p:nvPr>
        </p:nvSpPr>
        <p:spPr>
          <a:xfrm>
            <a:off x="598100" y="1775222"/>
            <a:ext cx="8222100" cy="838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38" name="Google Shape;38;p5"/>
          <p:cNvSpPr txBox="1">
            <a:spLocks noGrp="1"/>
          </p:cNvSpPr>
          <p:nvPr>
            <p:ph type="subTitle" idx="1"/>
          </p:nvPr>
        </p:nvSpPr>
        <p:spPr>
          <a:xfrm>
            <a:off x="598088" y="2715913"/>
            <a:ext cx="8222100" cy="43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39" name="Google Shape;39;p5"/>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0"/>
        <p:cNvGrpSpPr/>
        <p:nvPr/>
      </p:nvGrpSpPr>
      <p:grpSpPr>
        <a:xfrm>
          <a:off x="0" y="0"/>
          <a:ext cx="0" cy="0"/>
          <a:chOff x="0" y="0"/>
          <a:chExt cx="0" cy="0"/>
        </a:xfrm>
      </p:grpSpPr>
      <p:grpSp>
        <p:nvGrpSpPr>
          <p:cNvPr id="41" name="Google Shape;41;p6"/>
          <p:cNvGrpSpPr/>
          <p:nvPr/>
        </p:nvGrpSpPr>
        <p:grpSpPr>
          <a:xfrm>
            <a:off x="6098378" y="5"/>
            <a:ext cx="3045625" cy="2030570"/>
            <a:chOff x="6098378" y="5"/>
            <a:chExt cx="3045625" cy="2030570"/>
          </a:xfrm>
        </p:grpSpPr>
        <p:sp>
          <p:nvSpPr>
            <p:cNvPr id="42" name="Google Shape;42;p6"/>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6"/>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6"/>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6"/>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6"/>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7" name="Google Shape;47;p6"/>
          <p:cNvSpPr txBox="1">
            <a:spLocks noGrp="1"/>
          </p:cNvSpPr>
          <p:nvPr>
            <p:ph type="title"/>
          </p:nvPr>
        </p:nvSpPr>
        <p:spPr>
          <a:xfrm>
            <a:off x="598100" y="2152347"/>
            <a:ext cx="8222100" cy="838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48" name="Google Shape;48;p6"/>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51" name="Google Shape;51;p7"/>
          <p:cNvSpPr txBox="1">
            <a:spLocks noGrp="1"/>
          </p:cNvSpPr>
          <p:nvPr>
            <p:ph type="body" idx="1"/>
          </p:nvPr>
        </p:nvSpPr>
        <p:spPr>
          <a:xfrm>
            <a:off x="3117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2" name="Google Shape;52;p7"/>
          <p:cNvSpPr txBox="1">
            <a:spLocks noGrp="1"/>
          </p:cNvSpPr>
          <p:nvPr>
            <p:ph type="body" idx="2"/>
          </p:nvPr>
        </p:nvSpPr>
        <p:spPr>
          <a:xfrm>
            <a:off x="48324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3" name="Google Shape;53;p7"/>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56" name="Google Shape;56;p8"/>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9" name="Google Shape;59;p9"/>
          <p:cNvSpPr txBox="1">
            <a:spLocks noGrp="1"/>
          </p:cNvSpPr>
          <p:nvPr>
            <p:ph type="body" idx="1"/>
          </p:nvPr>
        </p:nvSpPr>
        <p:spPr>
          <a:xfrm>
            <a:off x="311700" y="1465804"/>
            <a:ext cx="2808000" cy="31032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0" name="Google Shape;60;p9"/>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10"/>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3" name="Google Shape;63;p10"/>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4" name="Google Shape;64;p10"/>
          <p:cNvSpPr txBox="1">
            <a:spLocks noGrp="1"/>
          </p:cNvSpPr>
          <p:nvPr>
            <p:ph type="title"/>
          </p:nvPr>
        </p:nvSpPr>
        <p:spPr>
          <a:xfrm>
            <a:off x="265500" y="1151100"/>
            <a:ext cx="4045200" cy="1564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65" name="Google Shape;65;p10"/>
          <p:cNvSpPr txBox="1">
            <a:spLocks noGrp="1"/>
          </p:cNvSpPr>
          <p:nvPr>
            <p:ph type="subTitle" idx="1"/>
          </p:nvPr>
        </p:nvSpPr>
        <p:spPr>
          <a:xfrm>
            <a:off x="265500" y="2769001"/>
            <a:ext cx="4045200" cy="1269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6" name="Google Shape;66;p10"/>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67" name="Google Shape;67;p10"/>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8"/>
        <p:cNvGrpSpPr/>
        <p:nvPr/>
      </p:nvGrpSpPr>
      <p:grpSpPr>
        <a:xfrm>
          <a:off x="0" y="0"/>
          <a:ext cx="0" cy="0"/>
          <a:chOff x="0" y="0"/>
          <a:chExt cx="0" cy="0"/>
        </a:xfrm>
      </p:grpSpPr>
      <p:sp>
        <p:nvSpPr>
          <p:cNvPr id="69" name="Google Shape;69;p11"/>
          <p:cNvSpPr txBox="1">
            <a:spLocks noGrp="1"/>
          </p:cNvSpPr>
          <p:nvPr>
            <p:ph type="body" idx="1"/>
          </p:nvPr>
        </p:nvSpPr>
        <p:spPr>
          <a:xfrm>
            <a:off x="319500" y="423057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70" name="Google Shape;70;p1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1"/>
        <p:cNvGrpSpPr/>
        <p:nvPr/>
      </p:nvGrpSpPr>
      <p:grpSpPr>
        <a:xfrm>
          <a:off x="0" y="0"/>
          <a:ext cx="0" cy="0"/>
          <a:chOff x="0" y="0"/>
          <a:chExt cx="0" cy="0"/>
        </a:xfrm>
      </p:grpSpPr>
      <p:grpSp>
        <p:nvGrpSpPr>
          <p:cNvPr id="72" name="Google Shape;72;p12"/>
          <p:cNvGrpSpPr/>
          <p:nvPr/>
        </p:nvGrpSpPr>
        <p:grpSpPr>
          <a:xfrm>
            <a:off x="6098378" y="5"/>
            <a:ext cx="3045625" cy="2030570"/>
            <a:chOff x="6098378" y="5"/>
            <a:chExt cx="3045625" cy="2030570"/>
          </a:xfrm>
        </p:grpSpPr>
        <p:sp>
          <p:nvSpPr>
            <p:cNvPr id="73" name="Google Shape;73;p1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8" name="Google Shape;78;p12"/>
          <p:cNvSpPr txBox="1">
            <a:spLocks noGrp="1"/>
          </p:cNvSpPr>
          <p:nvPr>
            <p:ph type="title" hasCustomPrompt="1"/>
          </p:nvPr>
        </p:nvSpPr>
        <p:spPr>
          <a:xfrm>
            <a:off x="311700" y="1256050"/>
            <a:ext cx="8520600" cy="2030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9" name="Google Shape;79;p12"/>
          <p:cNvSpPr txBox="1">
            <a:spLocks noGrp="1"/>
          </p:cNvSpPr>
          <p:nvPr>
            <p:ph type="body" idx="1"/>
          </p:nvPr>
        </p:nvSpPr>
        <p:spPr>
          <a:xfrm>
            <a:off x="311700" y="3369225"/>
            <a:ext cx="8520600" cy="12819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Clr>
                <a:schemeClr val="lt1"/>
              </a:buClr>
              <a:buSzPts val="1800"/>
              <a:buChar char="●"/>
              <a:defRPr>
                <a:solidFill>
                  <a:schemeClr val="lt1"/>
                </a:solidFill>
              </a:defRPr>
            </a:lvl1pPr>
            <a:lvl2pPr marL="914400" lvl="1" indent="-317500" algn="ctr">
              <a:lnSpc>
                <a:spcPct val="115000"/>
              </a:lnSpc>
              <a:spcBef>
                <a:spcPts val="0"/>
              </a:spcBef>
              <a:spcAft>
                <a:spcPts val="0"/>
              </a:spcAft>
              <a:buClr>
                <a:schemeClr val="lt1"/>
              </a:buClr>
              <a:buSzPts val="1400"/>
              <a:buChar char="○"/>
              <a:defRPr>
                <a:solidFill>
                  <a:schemeClr val="lt1"/>
                </a:solidFill>
              </a:defRPr>
            </a:lvl2pPr>
            <a:lvl3pPr marL="1371600" lvl="2" indent="-317500" algn="ctr">
              <a:lnSpc>
                <a:spcPct val="115000"/>
              </a:lnSpc>
              <a:spcBef>
                <a:spcPts val="0"/>
              </a:spcBef>
              <a:spcAft>
                <a:spcPts val="0"/>
              </a:spcAft>
              <a:buClr>
                <a:schemeClr val="lt1"/>
              </a:buClr>
              <a:buSzPts val="1400"/>
              <a:buChar char="■"/>
              <a:defRPr>
                <a:solidFill>
                  <a:schemeClr val="lt1"/>
                </a:solidFill>
              </a:defRPr>
            </a:lvl3pPr>
            <a:lvl4pPr marL="1828800" lvl="3" indent="-317500" algn="ctr">
              <a:lnSpc>
                <a:spcPct val="115000"/>
              </a:lnSpc>
              <a:spcBef>
                <a:spcPts val="0"/>
              </a:spcBef>
              <a:spcAft>
                <a:spcPts val="0"/>
              </a:spcAft>
              <a:buClr>
                <a:schemeClr val="lt1"/>
              </a:buClr>
              <a:buSzPts val="1400"/>
              <a:buChar char="●"/>
              <a:defRPr>
                <a:solidFill>
                  <a:schemeClr val="lt1"/>
                </a:solidFill>
              </a:defRPr>
            </a:lvl4pPr>
            <a:lvl5pPr marL="2286000" lvl="4" indent="-317500" algn="ctr">
              <a:lnSpc>
                <a:spcPct val="115000"/>
              </a:lnSpc>
              <a:spcBef>
                <a:spcPts val="0"/>
              </a:spcBef>
              <a:spcAft>
                <a:spcPts val="0"/>
              </a:spcAft>
              <a:buClr>
                <a:schemeClr val="lt1"/>
              </a:buClr>
              <a:buSzPts val="1400"/>
              <a:buChar char="○"/>
              <a:defRPr>
                <a:solidFill>
                  <a:schemeClr val="lt1"/>
                </a:solidFill>
              </a:defRPr>
            </a:lvl5pPr>
            <a:lvl6pPr marL="2743200" lvl="5" indent="-317500" algn="ctr">
              <a:lnSpc>
                <a:spcPct val="115000"/>
              </a:lnSpc>
              <a:spcBef>
                <a:spcPts val="0"/>
              </a:spcBef>
              <a:spcAft>
                <a:spcPts val="0"/>
              </a:spcAft>
              <a:buClr>
                <a:schemeClr val="lt1"/>
              </a:buClr>
              <a:buSzPts val="1400"/>
              <a:buChar char="■"/>
              <a:defRPr>
                <a:solidFill>
                  <a:schemeClr val="lt1"/>
                </a:solidFill>
              </a:defRPr>
            </a:lvl6pPr>
            <a:lvl7pPr marL="3200400" lvl="6" indent="-317500" algn="ctr">
              <a:lnSpc>
                <a:spcPct val="115000"/>
              </a:lnSpc>
              <a:spcBef>
                <a:spcPts val="0"/>
              </a:spcBef>
              <a:spcAft>
                <a:spcPts val="0"/>
              </a:spcAft>
              <a:buClr>
                <a:schemeClr val="lt1"/>
              </a:buClr>
              <a:buSzPts val="1400"/>
              <a:buChar char="●"/>
              <a:defRPr>
                <a:solidFill>
                  <a:schemeClr val="lt1"/>
                </a:solidFill>
              </a:defRPr>
            </a:lvl7pPr>
            <a:lvl8pPr marL="3657600" lvl="7" indent="-317500" algn="ctr">
              <a:lnSpc>
                <a:spcPct val="115000"/>
              </a:lnSpc>
              <a:spcBef>
                <a:spcPts val="0"/>
              </a:spcBef>
              <a:spcAft>
                <a:spcPts val="0"/>
              </a:spcAft>
              <a:buClr>
                <a:schemeClr val="lt1"/>
              </a:buClr>
              <a:buSzPts val="1400"/>
              <a:buChar char="○"/>
              <a:defRPr>
                <a:solidFill>
                  <a:schemeClr val="lt1"/>
                </a:solidFill>
              </a:defRPr>
            </a:lvl8pPr>
            <a:lvl9pPr marL="4114800" lvl="8" indent="-317500" algn="ctr">
              <a:lnSpc>
                <a:spcPct val="115000"/>
              </a:lnSpc>
              <a:spcBef>
                <a:spcPts val="0"/>
              </a:spcBef>
              <a:spcAft>
                <a:spcPts val="0"/>
              </a:spcAft>
              <a:buClr>
                <a:schemeClr val="lt1"/>
              </a:buClr>
              <a:buSzPts val="1400"/>
              <a:buChar char="■"/>
              <a:defRPr>
                <a:solidFill>
                  <a:schemeClr val="lt1"/>
                </a:solidFill>
              </a:defRPr>
            </a:lvl9pPr>
          </a:lstStyle>
          <a:p>
            <a:endParaRPr/>
          </a:p>
        </p:txBody>
      </p:sp>
      <p:sp>
        <p:nvSpPr>
          <p:cNvPr id="80" name="Google Shape;80;p1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Roboto"/>
              <a:buChar char="●"/>
              <a:defRPr sz="1800" b="0" i="0" u="none" strike="noStrike" cap="none">
                <a:solidFill>
                  <a:schemeClr val="dk2"/>
                </a:solidFill>
                <a:latin typeface="Roboto"/>
                <a:ea typeface="Roboto"/>
                <a:cs typeface="Roboto"/>
                <a:sym typeface="Roboto"/>
              </a:defRPr>
            </a:lvl1pPr>
            <a:lvl2pPr marL="914400" marR="0" lvl="1"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2pPr>
            <a:lvl3pPr marL="1371600" marR="0" lvl="2"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3pPr>
            <a:lvl4pPr marL="1828800" marR="0" lvl="3"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4pPr>
            <a:lvl5pPr marL="2286000" marR="0" lvl="4"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5pPr>
            <a:lvl6pPr marL="2743200" marR="0" lvl="5"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6pPr>
            <a:lvl7pPr marL="3200400" marR="0" lvl="6"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7pPr>
            <a:lvl8pPr marL="3657600" marR="0" lvl="7"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8pPr>
            <a:lvl9pPr marL="4114800" marR="0" lvl="8"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800"/>
              <a:buNone/>
            </a:pPr>
            <a:r>
              <a:rPr lang="en" sz="6000" b="1">
                <a:solidFill>
                  <a:srgbClr val="000000"/>
                </a:solidFill>
                <a:latin typeface="Playfair Display"/>
                <a:ea typeface="Playfair Display"/>
                <a:cs typeface="Playfair Display"/>
                <a:sym typeface="Playfair Display"/>
              </a:rPr>
              <a:t>Intro To Programming JavaScript</a:t>
            </a:r>
            <a:endParaRPr sz="6000" b="1">
              <a:solidFill>
                <a:srgbClr val="000000"/>
              </a:solidFill>
              <a:latin typeface="Playfair Display"/>
              <a:ea typeface="Playfair Display"/>
              <a:cs typeface="Playfair Display"/>
              <a:sym typeface="Playfair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0" y="1152175"/>
            <a:ext cx="8993700" cy="2731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00000"/>
              <a:buNone/>
            </a:pPr>
            <a:r>
              <a:rPr lang="en" b="1" dirty="0">
                <a:solidFill>
                  <a:srgbClr val="000000"/>
                </a:solidFill>
                <a:latin typeface="Nunito"/>
                <a:ea typeface="Nunito"/>
                <a:cs typeface="Nunito"/>
                <a:sym typeface="Nunito"/>
              </a:rPr>
              <a:t>Brief Summary Of Chapter 7</a:t>
            </a:r>
            <a:endParaRPr b="1" dirty="0">
              <a:solidFill>
                <a:srgbClr val="000000"/>
              </a:solidFill>
              <a:latin typeface="Nunito"/>
              <a:ea typeface="Nunito"/>
              <a:cs typeface="Nunito"/>
              <a:sym typeface="Nunito"/>
            </a:endParaRPr>
          </a:p>
          <a:p>
            <a:pPr marL="457200" lvl="0" indent="-371475" algn="l" rtl="0">
              <a:spcBef>
                <a:spcPts val="0"/>
              </a:spcBef>
              <a:spcAft>
                <a:spcPts val="0"/>
              </a:spcAft>
              <a:buClr>
                <a:srgbClr val="000000"/>
              </a:buClr>
              <a:buSzPct val="100000"/>
              <a:buFont typeface="Nunito"/>
              <a:buChar char="●"/>
            </a:pPr>
            <a:r>
              <a:rPr lang="en" sz="2500" dirty="0">
                <a:solidFill>
                  <a:srgbClr val="000000"/>
                </a:solidFill>
                <a:latin typeface="Nunito"/>
                <a:ea typeface="Nunito"/>
                <a:cs typeface="Nunito"/>
                <a:sym typeface="Nunito"/>
              </a:rPr>
              <a:t>What is a Prompt</a:t>
            </a:r>
            <a:endParaRPr sz="2500" dirty="0">
              <a:solidFill>
                <a:srgbClr val="000000"/>
              </a:solidFill>
              <a:latin typeface="Nunito"/>
              <a:ea typeface="Nunito"/>
              <a:cs typeface="Nunito"/>
              <a:sym typeface="Nunito"/>
            </a:endParaRPr>
          </a:p>
          <a:p>
            <a:pPr marL="457200" lvl="0" indent="-371475" algn="l" rtl="0">
              <a:spcBef>
                <a:spcPts val="0"/>
              </a:spcBef>
              <a:spcAft>
                <a:spcPts val="0"/>
              </a:spcAft>
              <a:buClr>
                <a:srgbClr val="000000"/>
              </a:buClr>
              <a:buSzPct val="100000"/>
              <a:buFont typeface="Nunito"/>
              <a:buChar char="●"/>
            </a:pPr>
            <a:r>
              <a:rPr lang="en" sz="2500" dirty="0">
                <a:solidFill>
                  <a:srgbClr val="000000"/>
                </a:solidFill>
                <a:latin typeface="Nunito"/>
                <a:ea typeface="Nunito"/>
                <a:cs typeface="Nunito"/>
                <a:sym typeface="Nunito"/>
              </a:rPr>
              <a:t>Using The Confirm </a:t>
            </a:r>
            <a:r>
              <a:rPr lang="en-ZA" sz="2500" dirty="0">
                <a:solidFill>
                  <a:srgbClr val="000000"/>
                </a:solidFill>
                <a:latin typeface="Nunito"/>
                <a:ea typeface="Nunito"/>
                <a:cs typeface="Nunito"/>
                <a:sym typeface="Nunito"/>
              </a:rPr>
              <a:t>Function</a:t>
            </a:r>
            <a:endParaRPr sz="2500" dirty="0">
              <a:solidFill>
                <a:srgbClr val="000000"/>
              </a:solidFill>
              <a:latin typeface="Nunito"/>
              <a:ea typeface="Nunito"/>
              <a:cs typeface="Nunito"/>
              <a:sym typeface="Nunito"/>
            </a:endParaRPr>
          </a:p>
          <a:p>
            <a:pPr marL="457200" lvl="0" indent="-371475" algn="l" rtl="0">
              <a:spcBef>
                <a:spcPts val="0"/>
              </a:spcBef>
              <a:spcAft>
                <a:spcPts val="0"/>
              </a:spcAft>
              <a:buClr>
                <a:srgbClr val="000000"/>
              </a:buClr>
              <a:buSzPct val="100000"/>
              <a:buFont typeface="Nunito"/>
              <a:buChar char="●"/>
            </a:pPr>
            <a:r>
              <a:rPr lang="en" sz="2500" dirty="0">
                <a:solidFill>
                  <a:srgbClr val="000000"/>
                </a:solidFill>
                <a:latin typeface="Nunito"/>
                <a:ea typeface="Nunito"/>
                <a:cs typeface="Nunito"/>
                <a:sym typeface="Nunito"/>
              </a:rPr>
              <a:t>What is an Alert</a:t>
            </a:r>
            <a:endParaRPr sz="2500" dirty="0">
              <a:solidFill>
                <a:srgbClr val="000000"/>
              </a:solidFill>
              <a:latin typeface="Nunito"/>
              <a:ea typeface="Nunito"/>
              <a:cs typeface="Nunito"/>
              <a:sym typeface="Nunito"/>
            </a:endParaRPr>
          </a:p>
          <a:p>
            <a:pPr marL="457200" lvl="0" indent="-371475" algn="l" rtl="0">
              <a:spcBef>
                <a:spcPts val="0"/>
              </a:spcBef>
              <a:spcAft>
                <a:spcPts val="0"/>
              </a:spcAft>
              <a:buClr>
                <a:srgbClr val="000000"/>
              </a:buClr>
              <a:buSzPct val="100000"/>
              <a:buFont typeface="Nunito"/>
              <a:buChar char="●"/>
            </a:pPr>
            <a:r>
              <a:rPr lang="en" sz="2500" dirty="0">
                <a:solidFill>
                  <a:srgbClr val="000000"/>
                </a:solidFill>
                <a:latin typeface="Nunito"/>
                <a:ea typeface="Nunito"/>
                <a:cs typeface="Nunito"/>
                <a:sym typeface="Nunito"/>
              </a:rPr>
              <a:t>Using Pseudocode</a:t>
            </a:r>
            <a:endParaRPr sz="2500" dirty="0">
              <a:solidFill>
                <a:srgbClr val="000000"/>
              </a:solidFill>
              <a:latin typeface="Nunito"/>
              <a:ea typeface="Nunito"/>
              <a:cs typeface="Nunito"/>
              <a:sym typeface="Nunito"/>
            </a:endParaRPr>
          </a:p>
          <a:p>
            <a:pPr marL="457200" lvl="0" indent="-371475" algn="l" rtl="0">
              <a:spcBef>
                <a:spcPts val="0"/>
              </a:spcBef>
              <a:spcAft>
                <a:spcPts val="0"/>
              </a:spcAft>
              <a:buClr>
                <a:srgbClr val="000000"/>
              </a:buClr>
              <a:buSzPct val="100000"/>
              <a:buFont typeface="Nunito"/>
              <a:buChar char="●"/>
            </a:pPr>
            <a:r>
              <a:rPr lang="en" sz="2500" dirty="0">
                <a:solidFill>
                  <a:srgbClr val="000000"/>
                </a:solidFill>
                <a:latin typeface="Nunito"/>
                <a:ea typeface="Nunito"/>
                <a:cs typeface="Nunito"/>
                <a:sym typeface="Nunito"/>
              </a:rPr>
              <a:t>Tracking the State</a:t>
            </a:r>
            <a:endParaRPr sz="2500" dirty="0">
              <a:solidFill>
                <a:srgbClr val="000000"/>
              </a:solidFill>
              <a:latin typeface="Nunito"/>
              <a:ea typeface="Nunito"/>
              <a:cs typeface="Nunito"/>
              <a:sym typeface="Nunito"/>
            </a:endParaRPr>
          </a:p>
          <a:p>
            <a:pPr marL="457200" lvl="0" indent="-371475" algn="l" rtl="0">
              <a:spcBef>
                <a:spcPts val="0"/>
              </a:spcBef>
              <a:spcAft>
                <a:spcPts val="0"/>
              </a:spcAft>
              <a:buClr>
                <a:srgbClr val="000000"/>
              </a:buClr>
              <a:buSzPct val="100000"/>
              <a:buFont typeface="Nunito"/>
              <a:buChar char="●"/>
            </a:pPr>
            <a:r>
              <a:rPr lang="en" sz="2500" dirty="0">
                <a:solidFill>
                  <a:srgbClr val="000000"/>
                </a:solidFill>
                <a:latin typeface="Nunito"/>
                <a:ea typeface="Nunito"/>
                <a:cs typeface="Nunito"/>
                <a:sym typeface="Nunito"/>
              </a:rPr>
              <a:t>Designing Your Game</a:t>
            </a:r>
            <a:endParaRPr sz="2500" dirty="0">
              <a:solidFill>
                <a:srgbClr val="000000"/>
              </a:solidFill>
              <a:latin typeface="Nunito"/>
              <a:ea typeface="Nunito"/>
              <a:cs typeface="Nunito"/>
              <a:sym typeface="Nunito"/>
            </a:endParaRPr>
          </a:p>
        </p:txBody>
      </p:sp>
      <p:sp>
        <p:nvSpPr>
          <p:cNvPr id="91" name="Google Shape;91;p14"/>
          <p:cNvSpPr txBox="1"/>
          <p:nvPr/>
        </p:nvSpPr>
        <p:spPr>
          <a:xfrm>
            <a:off x="0" y="0"/>
            <a:ext cx="9109200" cy="1060200"/>
          </a:xfrm>
          <a:prstGeom prst="rect">
            <a:avLst/>
          </a:prstGeom>
          <a:gradFill>
            <a:gsLst>
              <a:gs pos="0">
                <a:srgbClr val="F69FBC"/>
              </a:gs>
              <a:gs pos="100000">
                <a:srgbClr val="E32E6B"/>
              </a:gs>
            </a:gsLst>
            <a:lin ang="5400012" scaled="0"/>
          </a:gradFill>
          <a:ln>
            <a:noFill/>
          </a:ln>
        </p:spPr>
        <p:txBody>
          <a:bodyPr spcFirstLastPara="1" wrap="square" lIns="91425" tIns="45700" rIns="91425" bIns="45700" anchor="ctr" anchorCtr="0">
            <a:normAutofit lnSpcReduction="10000"/>
          </a:bodyPr>
          <a:lstStyle/>
          <a:p>
            <a:pPr marL="0" marR="0" lvl="0" indent="0" algn="ctr" rtl="0">
              <a:lnSpc>
                <a:spcPct val="115000"/>
              </a:lnSpc>
              <a:spcBef>
                <a:spcPts val="0"/>
              </a:spcBef>
              <a:spcAft>
                <a:spcPts val="0"/>
              </a:spcAft>
              <a:buClr>
                <a:srgbClr val="000000"/>
              </a:buClr>
              <a:buSzPts val="3000"/>
              <a:buFont typeface="Arial"/>
              <a:buNone/>
            </a:pPr>
            <a:r>
              <a:rPr lang="en" sz="3000" b="1" i="0" u="none" strike="noStrike" cap="none">
                <a:solidFill>
                  <a:srgbClr val="FFFFFF"/>
                </a:solidFill>
                <a:latin typeface="Nunito"/>
                <a:ea typeface="Nunito"/>
                <a:cs typeface="Nunito"/>
                <a:sym typeface="Nunito"/>
              </a:rPr>
              <a:t>Chapter </a:t>
            </a:r>
            <a:r>
              <a:rPr lang="en" sz="3000" b="1">
                <a:solidFill>
                  <a:srgbClr val="FFFFFF"/>
                </a:solidFill>
                <a:latin typeface="Nunito"/>
                <a:ea typeface="Nunito"/>
                <a:cs typeface="Nunito"/>
                <a:sym typeface="Nunito"/>
              </a:rPr>
              <a:t>7</a:t>
            </a:r>
            <a:r>
              <a:rPr lang="en" sz="3000" b="1" i="0" u="none" strike="noStrike" cap="none">
                <a:solidFill>
                  <a:srgbClr val="FFFFFF"/>
                </a:solidFill>
                <a:latin typeface="Nunito"/>
                <a:ea typeface="Nunito"/>
                <a:cs typeface="Nunito"/>
                <a:sym typeface="Nunito"/>
              </a:rPr>
              <a:t>:</a:t>
            </a:r>
            <a:br>
              <a:rPr lang="en" sz="3000" b="1" i="0" u="none" strike="noStrike" cap="none">
                <a:solidFill>
                  <a:srgbClr val="FFFFFF"/>
                </a:solidFill>
                <a:latin typeface="Nunito"/>
                <a:ea typeface="Nunito"/>
                <a:cs typeface="Nunito"/>
                <a:sym typeface="Nunito"/>
              </a:rPr>
            </a:br>
            <a:r>
              <a:rPr lang="en" sz="3000" b="1">
                <a:solidFill>
                  <a:srgbClr val="FFFFFF"/>
                </a:solidFill>
                <a:latin typeface="Nunito"/>
                <a:ea typeface="Nunito"/>
                <a:cs typeface="Nunito"/>
                <a:sym typeface="Nunito"/>
              </a:rPr>
              <a:t>Creating a Hangman Game</a:t>
            </a:r>
            <a:endParaRPr sz="3000" b="1" i="0" u="sng" strike="noStrike" cap="none">
              <a:solidFill>
                <a:srgbClr val="FFFFFF"/>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0" y="688500"/>
            <a:ext cx="9144000" cy="32262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3333"/>
              <a:buNone/>
            </a:pPr>
            <a:r>
              <a:rPr lang="en" sz="1522" b="1">
                <a:solidFill>
                  <a:srgbClr val="000000"/>
                </a:solidFill>
                <a:latin typeface="Nunito"/>
                <a:ea typeface="Nunito"/>
                <a:cs typeface="Nunito"/>
                <a:sym typeface="Nunito"/>
              </a:rPr>
              <a:t>A </a:t>
            </a:r>
            <a:r>
              <a:rPr lang="en" sz="1522" b="1">
                <a:solidFill>
                  <a:srgbClr val="A64D79"/>
                </a:solidFill>
                <a:latin typeface="Nunito"/>
                <a:ea typeface="Nunito"/>
                <a:cs typeface="Nunito"/>
                <a:sym typeface="Nunito"/>
              </a:rPr>
              <a:t>prompt </a:t>
            </a:r>
            <a:r>
              <a:rPr lang="en" sz="1522" b="1">
                <a:solidFill>
                  <a:srgbClr val="000000"/>
                </a:solidFill>
                <a:latin typeface="Nunito"/>
                <a:ea typeface="Nunito"/>
                <a:cs typeface="Nunito"/>
                <a:sym typeface="Nunito"/>
              </a:rPr>
              <a:t>is a message or box that asks the user for input or action. It's used to guide users, collect information, confirm choices, and improve the overall experience.</a:t>
            </a:r>
            <a:endParaRPr sz="1522" b="1">
              <a:solidFill>
                <a:srgbClr val="000000"/>
              </a:solidFill>
              <a:latin typeface="Nunito"/>
              <a:ea typeface="Nunito"/>
              <a:cs typeface="Nunito"/>
              <a:sym typeface="Nunito"/>
            </a:endParaRPr>
          </a:p>
          <a:p>
            <a:pPr marL="0" lvl="0" indent="0" algn="l" rtl="0">
              <a:lnSpc>
                <a:spcPct val="115000"/>
              </a:lnSpc>
              <a:spcBef>
                <a:spcPts val="0"/>
              </a:spcBef>
              <a:spcAft>
                <a:spcPts val="0"/>
              </a:spcAft>
              <a:buSzPts val="3333"/>
              <a:buNone/>
            </a:pPr>
            <a:endParaRPr sz="1522" b="1">
              <a:solidFill>
                <a:srgbClr val="000000"/>
              </a:solidFill>
              <a:latin typeface="Nunito"/>
              <a:ea typeface="Nunito"/>
              <a:cs typeface="Nunito"/>
              <a:sym typeface="Nunito"/>
            </a:endParaRPr>
          </a:p>
          <a:p>
            <a:pPr marL="0" lvl="0" indent="0" algn="l" rtl="0">
              <a:lnSpc>
                <a:spcPct val="115000"/>
              </a:lnSpc>
              <a:spcBef>
                <a:spcPts val="0"/>
              </a:spcBef>
              <a:spcAft>
                <a:spcPts val="0"/>
              </a:spcAft>
              <a:buSzPts val="3333"/>
              <a:buNone/>
            </a:pPr>
            <a:endParaRPr sz="1522" b="1">
              <a:solidFill>
                <a:srgbClr val="000000"/>
              </a:solidFill>
              <a:latin typeface="Nunito"/>
              <a:ea typeface="Nunito"/>
              <a:cs typeface="Nunito"/>
              <a:sym typeface="Nunito"/>
            </a:endParaRPr>
          </a:p>
          <a:p>
            <a:pPr marL="0" lvl="0" indent="0" algn="l" rtl="0">
              <a:lnSpc>
                <a:spcPct val="115000"/>
              </a:lnSpc>
              <a:spcBef>
                <a:spcPts val="0"/>
              </a:spcBef>
              <a:spcAft>
                <a:spcPts val="0"/>
              </a:spcAft>
              <a:buSzPts val="3333"/>
              <a:buNone/>
            </a:pPr>
            <a:endParaRPr sz="1522" b="1">
              <a:solidFill>
                <a:srgbClr val="000000"/>
              </a:solidFill>
              <a:latin typeface="Nunito"/>
              <a:ea typeface="Nunito"/>
              <a:cs typeface="Nunito"/>
              <a:sym typeface="Nunito"/>
            </a:endParaRPr>
          </a:p>
          <a:p>
            <a:pPr marL="0" lvl="0" indent="0" algn="l" rtl="0">
              <a:lnSpc>
                <a:spcPct val="115000"/>
              </a:lnSpc>
              <a:spcBef>
                <a:spcPts val="0"/>
              </a:spcBef>
              <a:spcAft>
                <a:spcPts val="0"/>
              </a:spcAft>
              <a:buClr>
                <a:srgbClr val="000000"/>
              </a:buClr>
              <a:buSzPts val="3333"/>
              <a:buFont typeface="Arial"/>
              <a:buNone/>
            </a:pPr>
            <a:r>
              <a:rPr lang="en" sz="2122" b="1" u="sng">
                <a:solidFill>
                  <a:srgbClr val="000000"/>
                </a:solidFill>
                <a:latin typeface="Nunito"/>
                <a:ea typeface="Nunito"/>
                <a:cs typeface="Nunito"/>
                <a:sym typeface="Nunito"/>
              </a:rPr>
              <a:t>EXAMPLE:</a:t>
            </a:r>
            <a:r>
              <a:rPr lang="en" sz="2122" b="1">
                <a:solidFill>
                  <a:srgbClr val="000000"/>
                </a:solidFill>
                <a:latin typeface="Nunito"/>
                <a:ea typeface="Nunito"/>
                <a:cs typeface="Nunito"/>
                <a:sym typeface="Nunito"/>
              </a:rPr>
              <a:t>  </a:t>
            </a:r>
            <a:r>
              <a:rPr lang="en" sz="2122" b="1">
                <a:solidFill>
                  <a:srgbClr val="A64D79"/>
                </a:solidFill>
                <a:latin typeface="Nunito"/>
                <a:ea typeface="Nunito"/>
                <a:cs typeface="Nunito"/>
                <a:sym typeface="Nunito"/>
              </a:rPr>
              <a:t>(B-p134 &amp; L-p107)</a:t>
            </a:r>
            <a:endParaRPr sz="2122" b="1">
              <a:solidFill>
                <a:srgbClr val="A64D79"/>
              </a:solidFill>
              <a:latin typeface="Nunito"/>
              <a:ea typeface="Nunito"/>
              <a:cs typeface="Nunito"/>
              <a:sym typeface="Nunito"/>
            </a:endParaRPr>
          </a:p>
        </p:txBody>
      </p:sp>
      <p:sp>
        <p:nvSpPr>
          <p:cNvPr id="97" name="Google Shape;97;p15"/>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3000"/>
              <a:buFont typeface="Arial"/>
              <a:buNone/>
            </a:pPr>
            <a:r>
              <a:rPr lang="en" sz="3000" b="1">
                <a:solidFill>
                  <a:srgbClr val="FFFFFF"/>
                </a:solidFill>
                <a:latin typeface="Nunito"/>
                <a:ea typeface="Nunito"/>
                <a:cs typeface="Nunito"/>
                <a:sym typeface="Nunito"/>
              </a:rPr>
              <a:t>What is a Prompt</a:t>
            </a:r>
            <a:r>
              <a:rPr lang="en" sz="3000" b="1" i="0" u="none" strike="noStrike" cap="none">
                <a:solidFill>
                  <a:srgbClr val="FFFFFF"/>
                </a:solidFill>
                <a:latin typeface="Nunito"/>
                <a:ea typeface="Nunito"/>
                <a:cs typeface="Nunito"/>
                <a:sym typeface="Nunito"/>
              </a:rPr>
              <a:t>?</a:t>
            </a:r>
            <a:endParaRPr sz="3000" b="1" i="0" u="sng" strike="noStrike" cap="none">
              <a:solidFill>
                <a:srgbClr val="FFFFFF"/>
              </a:solidFill>
              <a:latin typeface="Nunito"/>
              <a:ea typeface="Nunito"/>
              <a:cs typeface="Nunito"/>
              <a:sym typeface="Nunito"/>
            </a:endParaRPr>
          </a:p>
        </p:txBody>
      </p:sp>
      <p:pic>
        <p:nvPicPr>
          <p:cNvPr id="98" name="Google Shape;98;p15"/>
          <p:cNvPicPr preferRelativeResize="0"/>
          <p:nvPr/>
        </p:nvPicPr>
        <p:blipFill>
          <a:blip r:embed="rId3">
            <a:alphaModFix/>
          </a:blip>
          <a:stretch>
            <a:fillRect/>
          </a:stretch>
        </p:blipFill>
        <p:spPr>
          <a:xfrm>
            <a:off x="137050" y="2628775"/>
            <a:ext cx="8614400" cy="8367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 sz="3000" b="1" dirty="0">
                <a:solidFill>
                  <a:srgbClr val="FFFFFF"/>
                </a:solidFill>
                <a:latin typeface="Nunito"/>
                <a:ea typeface="Nunito"/>
                <a:cs typeface="Nunito"/>
                <a:sym typeface="Nunito"/>
              </a:rPr>
              <a:t>Using The Confirm </a:t>
            </a:r>
            <a:r>
              <a:rPr lang="en-ZA" sz="3000" b="1">
                <a:solidFill>
                  <a:srgbClr val="FFFFFF"/>
                </a:solidFill>
                <a:latin typeface="Nunito"/>
                <a:ea typeface="Nunito"/>
                <a:cs typeface="Nunito"/>
                <a:sym typeface="Nunito"/>
              </a:rPr>
              <a:t>Function</a:t>
            </a:r>
            <a:endParaRPr sz="3000" b="1" i="0" u="sng" strike="noStrike" cap="none" dirty="0">
              <a:solidFill>
                <a:srgbClr val="FFFFFF"/>
              </a:solidFill>
              <a:latin typeface="Nunito"/>
              <a:ea typeface="Nunito"/>
              <a:cs typeface="Nunito"/>
              <a:sym typeface="Nunito"/>
            </a:endParaRPr>
          </a:p>
        </p:txBody>
      </p:sp>
      <p:sp>
        <p:nvSpPr>
          <p:cNvPr id="104" name="Google Shape;104;p16"/>
          <p:cNvSpPr txBox="1">
            <a:spLocks noGrp="1"/>
          </p:cNvSpPr>
          <p:nvPr>
            <p:ph type="title"/>
          </p:nvPr>
        </p:nvSpPr>
        <p:spPr>
          <a:xfrm>
            <a:off x="0" y="739950"/>
            <a:ext cx="9116700" cy="31623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None/>
            </a:pPr>
            <a:r>
              <a:rPr lang="en" sz="1500" b="1">
                <a:solidFill>
                  <a:srgbClr val="A64D79"/>
                </a:solidFill>
                <a:latin typeface="Nunito"/>
                <a:ea typeface="Nunito"/>
                <a:cs typeface="Nunito"/>
                <a:sym typeface="Nunito"/>
              </a:rPr>
              <a:t>confirm()</a:t>
            </a:r>
            <a:r>
              <a:rPr lang="en" sz="1500" b="1">
                <a:solidFill>
                  <a:srgbClr val="000000"/>
                </a:solidFill>
                <a:latin typeface="Nunito"/>
                <a:ea typeface="Nunito"/>
                <a:cs typeface="Nunito"/>
                <a:sym typeface="Nunito"/>
              </a:rPr>
              <a:t> shows a message with "OK" and "Cancel" buttons. It returns </a:t>
            </a:r>
            <a:r>
              <a:rPr lang="en" sz="1500" b="1">
                <a:solidFill>
                  <a:srgbClr val="A64D79"/>
                </a:solidFill>
                <a:latin typeface="Nunito"/>
                <a:ea typeface="Nunito"/>
                <a:cs typeface="Nunito"/>
                <a:sym typeface="Nunito"/>
              </a:rPr>
              <a:t>true </a:t>
            </a:r>
            <a:r>
              <a:rPr lang="en" sz="1500" b="1">
                <a:solidFill>
                  <a:srgbClr val="000000"/>
                </a:solidFill>
                <a:latin typeface="Nunito"/>
                <a:ea typeface="Nunito"/>
                <a:cs typeface="Nunito"/>
                <a:sym typeface="Nunito"/>
              </a:rPr>
              <a:t>if the user clicks "OK" and </a:t>
            </a:r>
            <a:r>
              <a:rPr lang="en" sz="1500" b="1">
                <a:solidFill>
                  <a:srgbClr val="A64D79"/>
                </a:solidFill>
                <a:latin typeface="Nunito"/>
                <a:ea typeface="Nunito"/>
                <a:cs typeface="Nunito"/>
                <a:sym typeface="Nunito"/>
              </a:rPr>
              <a:t>false </a:t>
            </a:r>
            <a:r>
              <a:rPr lang="en" sz="1500" b="1">
                <a:solidFill>
                  <a:srgbClr val="000000"/>
                </a:solidFill>
                <a:latin typeface="Nunito"/>
                <a:ea typeface="Nunito"/>
                <a:cs typeface="Nunito"/>
                <a:sym typeface="Nunito"/>
              </a:rPr>
              <a:t>if they click "Cancel". It's used to confirm actions like deleting or submitting.</a:t>
            </a:r>
            <a:endParaRPr sz="1500" b="1">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500" b="1">
              <a:solidFill>
                <a:srgbClr val="000000"/>
              </a:solidFill>
              <a:latin typeface="Nunito"/>
              <a:ea typeface="Nunito"/>
              <a:cs typeface="Nunito"/>
              <a:sym typeface="Nunito"/>
            </a:endParaRPr>
          </a:p>
          <a:p>
            <a:pPr marL="0" lvl="0" indent="0" algn="l" rtl="0">
              <a:lnSpc>
                <a:spcPct val="115000"/>
              </a:lnSpc>
              <a:spcBef>
                <a:spcPts val="1200"/>
              </a:spcBef>
              <a:spcAft>
                <a:spcPts val="1200"/>
              </a:spcAft>
              <a:buNone/>
            </a:pPr>
            <a:r>
              <a:rPr lang="en" sz="2100" b="1" u="sng">
                <a:solidFill>
                  <a:srgbClr val="000000"/>
                </a:solidFill>
                <a:latin typeface="Nunito"/>
                <a:ea typeface="Nunito"/>
                <a:cs typeface="Nunito"/>
                <a:sym typeface="Nunito"/>
              </a:rPr>
              <a:t>EXAMPLE:</a:t>
            </a:r>
            <a:r>
              <a:rPr lang="en" sz="2100" b="1">
                <a:solidFill>
                  <a:srgbClr val="000000"/>
                </a:solidFill>
                <a:latin typeface="Nunito"/>
                <a:ea typeface="Nunito"/>
                <a:cs typeface="Nunito"/>
                <a:sym typeface="Nunito"/>
              </a:rPr>
              <a:t>   </a:t>
            </a:r>
            <a:r>
              <a:rPr lang="en" sz="2100" b="1">
                <a:solidFill>
                  <a:srgbClr val="A64D79"/>
                </a:solidFill>
                <a:latin typeface="Nunito"/>
                <a:ea typeface="Nunito"/>
                <a:cs typeface="Nunito"/>
                <a:sym typeface="Nunito"/>
              </a:rPr>
              <a:t>(B-p135 &amp; L-p108)</a:t>
            </a:r>
            <a:endParaRPr sz="1500" b="1">
              <a:solidFill>
                <a:srgbClr val="000000"/>
              </a:solidFill>
              <a:latin typeface="Nunito"/>
              <a:ea typeface="Nunito"/>
              <a:cs typeface="Nunito"/>
              <a:sym typeface="Nunito"/>
            </a:endParaRPr>
          </a:p>
        </p:txBody>
      </p:sp>
      <p:pic>
        <p:nvPicPr>
          <p:cNvPr id="105" name="Google Shape;105;p16" title="Screenshot 2025-04-12 213403.png"/>
          <p:cNvPicPr preferRelativeResize="0"/>
          <p:nvPr/>
        </p:nvPicPr>
        <p:blipFill>
          <a:blip r:embed="rId3">
            <a:alphaModFix/>
          </a:blip>
          <a:stretch>
            <a:fillRect/>
          </a:stretch>
        </p:blipFill>
        <p:spPr>
          <a:xfrm>
            <a:off x="124913" y="2407526"/>
            <a:ext cx="6935025" cy="1442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 sz="3000" b="1">
                <a:solidFill>
                  <a:srgbClr val="FFFFFF"/>
                </a:solidFill>
                <a:latin typeface="Nunito"/>
                <a:ea typeface="Nunito"/>
                <a:cs typeface="Nunito"/>
                <a:sym typeface="Nunito"/>
              </a:rPr>
              <a:t>What is an Alert?</a:t>
            </a:r>
            <a:endParaRPr sz="3000" b="1" i="0" u="sng" strike="noStrike" cap="none">
              <a:solidFill>
                <a:srgbClr val="FFFFFF"/>
              </a:solidFill>
              <a:latin typeface="Nunito"/>
              <a:ea typeface="Nunito"/>
              <a:cs typeface="Nunito"/>
              <a:sym typeface="Nunito"/>
            </a:endParaRPr>
          </a:p>
        </p:txBody>
      </p:sp>
      <p:sp>
        <p:nvSpPr>
          <p:cNvPr id="111" name="Google Shape;111;p17"/>
          <p:cNvSpPr txBox="1">
            <a:spLocks noGrp="1"/>
          </p:cNvSpPr>
          <p:nvPr>
            <p:ph type="title"/>
          </p:nvPr>
        </p:nvSpPr>
        <p:spPr>
          <a:xfrm>
            <a:off x="50" y="733800"/>
            <a:ext cx="9144000" cy="4171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None/>
            </a:pPr>
            <a:r>
              <a:rPr lang="en" sz="1500" b="1">
                <a:solidFill>
                  <a:srgbClr val="000000"/>
                </a:solidFill>
                <a:latin typeface="Nunito"/>
                <a:ea typeface="Nunito"/>
                <a:cs typeface="Nunito"/>
                <a:sym typeface="Nunito"/>
              </a:rPr>
              <a:t>An </a:t>
            </a:r>
            <a:r>
              <a:rPr lang="en" sz="1500" b="1">
                <a:solidFill>
                  <a:srgbClr val="A64D79"/>
                </a:solidFill>
                <a:latin typeface="Nunito"/>
                <a:ea typeface="Nunito"/>
                <a:cs typeface="Nunito"/>
                <a:sym typeface="Nunito"/>
              </a:rPr>
              <a:t>alert </a:t>
            </a:r>
            <a:r>
              <a:rPr lang="en" sz="1500" b="1">
                <a:solidFill>
                  <a:srgbClr val="000000"/>
                </a:solidFill>
                <a:latin typeface="Nunito"/>
                <a:ea typeface="Nunito"/>
                <a:cs typeface="Nunito"/>
                <a:sym typeface="Nunito"/>
              </a:rPr>
              <a:t>is a message that pops up to tell users something important, like an error or update. It can be used to warn, inform, or get attention. </a:t>
            </a:r>
            <a:endParaRPr sz="2100" b="1" u="sng">
              <a:solidFill>
                <a:srgbClr val="000000"/>
              </a:solidFill>
              <a:latin typeface="Nunito"/>
              <a:ea typeface="Nunito"/>
              <a:cs typeface="Nunito"/>
              <a:sym typeface="Nunito"/>
            </a:endParaRPr>
          </a:p>
          <a:p>
            <a:pPr marL="0" lvl="0" indent="0" algn="l" rtl="0">
              <a:lnSpc>
                <a:spcPct val="115000"/>
              </a:lnSpc>
              <a:spcBef>
                <a:spcPts val="1200"/>
              </a:spcBef>
              <a:spcAft>
                <a:spcPts val="1200"/>
              </a:spcAft>
              <a:buNone/>
            </a:pPr>
            <a:r>
              <a:rPr lang="en" sz="2100" b="1" u="sng">
                <a:solidFill>
                  <a:srgbClr val="000000"/>
                </a:solidFill>
                <a:latin typeface="Nunito"/>
                <a:ea typeface="Nunito"/>
                <a:cs typeface="Nunito"/>
                <a:sym typeface="Nunito"/>
              </a:rPr>
              <a:t>EXAMPLE:</a:t>
            </a:r>
            <a:r>
              <a:rPr lang="en" sz="2100" b="1">
                <a:solidFill>
                  <a:srgbClr val="000000"/>
                </a:solidFill>
                <a:latin typeface="Nunito"/>
                <a:ea typeface="Nunito"/>
                <a:cs typeface="Nunito"/>
                <a:sym typeface="Nunito"/>
              </a:rPr>
              <a:t>   </a:t>
            </a:r>
            <a:r>
              <a:rPr lang="en" sz="2100" b="1">
                <a:solidFill>
                  <a:srgbClr val="A64D79"/>
                </a:solidFill>
                <a:latin typeface="Nunito"/>
                <a:ea typeface="Nunito"/>
                <a:cs typeface="Nunito"/>
                <a:sym typeface="Nunito"/>
              </a:rPr>
              <a:t>(B-p136 &amp; L-p109)</a:t>
            </a:r>
            <a:endParaRPr sz="1500" b="1">
              <a:solidFill>
                <a:srgbClr val="000000"/>
              </a:solidFill>
              <a:latin typeface="Nunito"/>
              <a:ea typeface="Nunito"/>
              <a:cs typeface="Nunito"/>
              <a:sym typeface="Nunito"/>
            </a:endParaRPr>
          </a:p>
        </p:txBody>
      </p:sp>
      <p:pic>
        <p:nvPicPr>
          <p:cNvPr id="112" name="Google Shape;112;p17"/>
          <p:cNvPicPr preferRelativeResize="0"/>
          <p:nvPr/>
        </p:nvPicPr>
        <p:blipFill>
          <a:blip r:embed="rId3">
            <a:alphaModFix/>
          </a:blip>
          <a:stretch>
            <a:fillRect/>
          </a:stretch>
        </p:blipFill>
        <p:spPr>
          <a:xfrm>
            <a:off x="533900" y="2047376"/>
            <a:ext cx="5949200" cy="765725"/>
          </a:xfrm>
          <a:prstGeom prst="rect">
            <a:avLst/>
          </a:prstGeom>
          <a:noFill/>
          <a:ln>
            <a:noFill/>
          </a:ln>
        </p:spPr>
      </p:pic>
      <p:pic>
        <p:nvPicPr>
          <p:cNvPr id="113" name="Google Shape;113;p17"/>
          <p:cNvPicPr preferRelativeResize="0"/>
          <p:nvPr/>
        </p:nvPicPr>
        <p:blipFill>
          <a:blip r:embed="rId4">
            <a:alphaModFix/>
          </a:blip>
          <a:stretch>
            <a:fillRect/>
          </a:stretch>
        </p:blipFill>
        <p:spPr>
          <a:xfrm>
            <a:off x="52900" y="2850275"/>
            <a:ext cx="6726051" cy="1408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 sz="3000" b="1">
                <a:solidFill>
                  <a:srgbClr val="FFFFFF"/>
                </a:solidFill>
                <a:latin typeface="Nunito"/>
                <a:ea typeface="Nunito"/>
                <a:cs typeface="Nunito"/>
                <a:sym typeface="Nunito"/>
              </a:rPr>
              <a:t>Using Pseudocode</a:t>
            </a:r>
            <a:endParaRPr sz="3000" b="1" i="0" u="sng" strike="noStrike" cap="none">
              <a:solidFill>
                <a:srgbClr val="FFFFFF"/>
              </a:solidFill>
              <a:latin typeface="Nunito"/>
              <a:ea typeface="Nunito"/>
              <a:cs typeface="Nunito"/>
              <a:sym typeface="Nunito"/>
            </a:endParaRPr>
          </a:p>
        </p:txBody>
      </p:sp>
      <p:sp>
        <p:nvSpPr>
          <p:cNvPr id="119" name="Google Shape;119;p18"/>
          <p:cNvSpPr txBox="1">
            <a:spLocks noGrp="1"/>
          </p:cNvSpPr>
          <p:nvPr>
            <p:ph type="title"/>
          </p:nvPr>
        </p:nvSpPr>
        <p:spPr>
          <a:xfrm>
            <a:off x="17400" y="688500"/>
            <a:ext cx="9109200" cy="42246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1500" b="1">
                <a:solidFill>
                  <a:srgbClr val="A64D79"/>
                </a:solidFill>
                <a:latin typeface="Nunito"/>
                <a:ea typeface="Nunito"/>
                <a:cs typeface="Nunito"/>
                <a:sym typeface="Nunito"/>
              </a:rPr>
              <a:t>Pseudocode </a:t>
            </a:r>
            <a:r>
              <a:rPr lang="en" sz="1500" b="1">
                <a:solidFill>
                  <a:srgbClr val="000000"/>
                </a:solidFill>
                <a:latin typeface="Nunito"/>
                <a:ea typeface="Nunito"/>
                <a:cs typeface="Nunito"/>
                <a:sym typeface="Nunito"/>
              </a:rPr>
              <a:t>is used to outline the logic of an algorithm in a way that is not specific to any programming language. It helps developers plan and visualize the steps of a program without focusing on the details of coding syntax. This makes it easier to design and discuss solutions before translating them into actual code. </a:t>
            </a:r>
            <a:endParaRPr sz="1700" b="1">
              <a:solidFill>
                <a:srgbClr val="000000"/>
              </a:solidFill>
              <a:latin typeface="Nunito"/>
              <a:ea typeface="Nunito"/>
              <a:cs typeface="Nunito"/>
              <a:sym typeface="Nunito"/>
            </a:endParaRPr>
          </a:p>
        </p:txBody>
      </p:sp>
      <p:pic>
        <p:nvPicPr>
          <p:cNvPr id="120" name="Google Shape;120;p18"/>
          <p:cNvPicPr preferRelativeResize="0"/>
          <p:nvPr/>
        </p:nvPicPr>
        <p:blipFill>
          <a:blip r:embed="rId3">
            <a:alphaModFix/>
          </a:blip>
          <a:stretch>
            <a:fillRect/>
          </a:stretch>
        </p:blipFill>
        <p:spPr>
          <a:xfrm>
            <a:off x="4840900" y="1610075"/>
            <a:ext cx="4303100" cy="3303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9"/>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 sz="3000" b="1">
                <a:solidFill>
                  <a:srgbClr val="FFFFFF"/>
                </a:solidFill>
                <a:latin typeface="Nunito"/>
                <a:ea typeface="Nunito"/>
                <a:cs typeface="Nunito"/>
                <a:sym typeface="Nunito"/>
              </a:rPr>
              <a:t>Tracking the State</a:t>
            </a:r>
            <a:endParaRPr sz="3000" b="1" i="0" u="sng" strike="noStrike" cap="none">
              <a:solidFill>
                <a:srgbClr val="FFFFFF"/>
              </a:solidFill>
              <a:latin typeface="Nunito"/>
              <a:ea typeface="Nunito"/>
              <a:cs typeface="Nunito"/>
              <a:sym typeface="Nunito"/>
            </a:endParaRPr>
          </a:p>
        </p:txBody>
      </p:sp>
      <p:sp>
        <p:nvSpPr>
          <p:cNvPr id="126" name="Google Shape;126;p19"/>
          <p:cNvSpPr txBox="1">
            <a:spLocks noGrp="1"/>
          </p:cNvSpPr>
          <p:nvPr>
            <p:ph type="title"/>
          </p:nvPr>
        </p:nvSpPr>
        <p:spPr>
          <a:xfrm>
            <a:off x="34800" y="853000"/>
            <a:ext cx="9109200" cy="29754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1800" b="1">
                <a:solidFill>
                  <a:srgbClr val="A64D79"/>
                </a:solidFill>
                <a:latin typeface="Nunito"/>
                <a:ea typeface="Nunito"/>
                <a:cs typeface="Nunito"/>
                <a:sym typeface="Nunito"/>
              </a:rPr>
              <a:t>Tracking </a:t>
            </a:r>
            <a:r>
              <a:rPr lang="en" sz="1800" b="1">
                <a:solidFill>
                  <a:srgbClr val="000000"/>
                </a:solidFill>
                <a:latin typeface="Nunito"/>
                <a:ea typeface="Nunito"/>
                <a:cs typeface="Nunito"/>
                <a:sym typeface="Nunito"/>
              </a:rPr>
              <a:t>the state in Hangman involves keeping an array of blanks that represents the letters in the secret word. As the player guesses letters, the array is updated to show correct guesses, replacing blanks with the guessed letters. This helps display the player’s progress in revealing the word. </a:t>
            </a:r>
            <a:endParaRPr sz="1800" b="1">
              <a:solidFill>
                <a:srgbClr val="000000"/>
              </a:solidFill>
              <a:latin typeface="Nunito"/>
              <a:ea typeface="Nunito"/>
              <a:cs typeface="Nunito"/>
              <a:sym typeface="Nunito"/>
            </a:endParaRPr>
          </a:p>
          <a:p>
            <a:pPr marL="0" lvl="0" indent="0" algn="l" rtl="0">
              <a:spcBef>
                <a:spcPts val="0"/>
              </a:spcBef>
              <a:spcAft>
                <a:spcPts val="0"/>
              </a:spcAft>
              <a:buNone/>
            </a:pPr>
            <a:endParaRPr sz="1800" b="1">
              <a:solidFill>
                <a:srgbClr val="000000"/>
              </a:solidFill>
              <a:latin typeface="Nunito"/>
              <a:ea typeface="Nunito"/>
              <a:cs typeface="Nunito"/>
              <a:sym typeface="Nunito"/>
            </a:endParaRPr>
          </a:p>
          <a:p>
            <a:pPr marL="0" lvl="0" indent="0" algn="l" rtl="0">
              <a:spcBef>
                <a:spcPts val="0"/>
              </a:spcBef>
              <a:spcAft>
                <a:spcPts val="0"/>
              </a:spcAft>
              <a:buNone/>
            </a:pPr>
            <a:r>
              <a:rPr lang="en" sz="2100" b="1" u="sng">
                <a:solidFill>
                  <a:srgbClr val="000000"/>
                </a:solidFill>
                <a:latin typeface="Nunito"/>
                <a:ea typeface="Nunito"/>
                <a:cs typeface="Nunito"/>
                <a:sym typeface="Nunito"/>
              </a:rPr>
              <a:t>EXAMPLE:</a:t>
            </a:r>
            <a:r>
              <a:rPr lang="en" sz="2100" b="1">
                <a:solidFill>
                  <a:srgbClr val="000000"/>
                </a:solidFill>
                <a:latin typeface="Nunito"/>
                <a:ea typeface="Nunito"/>
                <a:cs typeface="Nunito"/>
                <a:sym typeface="Nunito"/>
              </a:rPr>
              <a:t>   </a:t>
            </a:r>
            <a:r>
              <a:rPr lang="en" sz="2100" b="1">
                <a:solidFill>
                  <a:srgbClr val="A64D79"/>
                </a:solidFill>
                <a:latin typeface="Nunito"/>
                <a:ea typeface="Nunito"/>
                <a:cs typeface="Nunito"/>
                <a:sym typeface="Nunito"/>
              </a:rPr>
              <a:t>(B-p139 &amp; L-p112)</a:t>
            </a:r>
            <a:endParaRPr sz="2100" b="1">
              <a:solidFill>
                <a:srgbClr val="A64D79"/>
              </a:solidFill>
              <a:latin typeface="Nunito"/>
              <a:ea typeface="Nunito"/>
              <a:cs typeface="Nunito"/>
              <a:sym typeface="Nunito"/>
            </a:endParaRPr>
          </a:p>
          <a:p>
            <a:pPr marL="0" lvl="0" indent="0" algn="l" rtl="0">
              <a:spcBef>
                <a:spcPts val="0"/>
              </a:spcBef>
              <a:spcAft>
                <a:spcPts val="0"/>
              </a:spcAft>
              <a:buClr>
                <a:srgbClr val="000000"/>
              </a:buClr>
              <a:buSzPts val="3000"/>
              <a:buFont typeface="Arial"/>
              <a:buNone/>
            </a:pPr>
            <a:r>
              <a:rPr lang="en" sz="1800" b="1">
                <a:solidFill>
                  <a:srgbClr val="000000"/>
                </a:solidFill>
                <a:latin typeface="Nunito"/>
                <a:ea typeface="Nunito"/>
                <a:cs typeface="Nunito"/>
                <a:sym typeface="Nunito"/>
              </a:rPr>
              <a:t>If the secret word is </a:t>
            </a:r>
            <a:r>
              <a:rPr lang="en" sz="1800" b="1">
                <a:solidFill>
                  <a:srgbClr val="A64D79"/>
                </a:solidFill>
                <a:latin typeface="Nunito"/>
                <a:ea typeface="Nunito"/>
                <a:cs typeface="Nunito"/>
                <a:sym typeface="Nunito"/>
              </a:rPr>
              <a:t>"fish"</a:t>
            </a:r>
            <a:r>
              <a:rPr lang="en" sz="1800" b="1">
                <a:solidFill>
                  <a:srgbClr val="000000"/>
                </a:solidFill>
                <a:latin typeface="Nunito"/>
                <a:ea typeface="Nunito"/>
                <a:cs typeface="Nunito"/>
                <a:sym typeface="Nunito"/>
              </a:rPr>
              <a:t> the initial array of blanks is</a:t>
            </a:r>
            <a:r>
              <a:rPr lang="en" sz="1800" b="1">
                <a:solidFill>
                  <a:srgbClr val="38761D"/>
                </a:solidFill>
                <a:latin typeface="Nunito"/>
                <a:ea typeface="Nunito"/>
                <a:cs typeface="Nunito"/>
                <a:sym typeface="Nunito"/>
              </a:rPr>
              <a:t> </a:t>
            </a:r>
            <a:r>
              <a:rPr lang="en" sz="1800" b="1">
                <a:solidFill>
                  <a:srgbClr val="A64D79"/>
                </a:solidFill>
                <a:latin typeface="Nunito"/>
                <a:ea typeface="Nunito"/>
                <a:cs typeface="Nunito"/>
                <a:sym typeface="Nunito"/>
              </a:rPr>
              <a:t>["_", "_", "_", "_"]</a:t>
            </a:r>
            <a:r>
              <a:rPr lang="en" sz="1800" b="1">
                <a:solidFill>
                  <a:srgbClr val="000000"/>
                </a:solidFill>
                <a:latin typeface="Nunito"/>
                <a:ea typeface="Nunito"/>
                <a:cs typeface="Nunito"/>
                <a:sym typeface="Nunito"/>
              </a:rPr>
              <a:t>.</a:t>
            </a:r>
            <a:endParaRPr sz="1900" b="1">
              <a:solidFill>
                <a:srgbClr val="000000"/>
              </a:solidFill>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0"/>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 sz="3000" b="1">
                <a:solidFill>
                  <a:srgbClr val="FFFFFF"/>
                </a:solidFill>
                <a:latin typeface="Nunito"/>
                <a:ea typeface="Nunito"/>
                <a:cs typeface="Nunito"/>
                <a:sym typeface="Nunito"/>
              </a:rPr>
              <a:t>Designing Your Game</a:t>
            </a:r>
            <a:endParaRPr sz="3000" b="1" i="0" u="sng" strike="noStrike" cap="none">
              <a:solidFill>
                <a:srgbClr val="FFFFFF"/>
              </a:solidFill>
              <a:latin typeface="Nunito"/>
              <a:ea typeface="Nunito"/>
              <a:cs typeface="Nunito"/>
              <a:sym typeface="Nunito"/>
            </a:endParaRPr>
          </a:p>
        </p:txBody>
      </p:sp>
      <p:sp>
        <p:nvSpPr>
          <p:cNvPr id="132" name="Google Shape;132;p20"/>
          <p:cNvSpPr txBox="1">
            <a:spLocks noGrp="1"/>
          </p:cNvSpPr>
          <p:nvPr>
            <p:ph type="title"/>
          </p:nvPr>
        </p:nvSpPr>
        <p:spPr>
          <a:xfrm>
            <a:off x="28675" y="727650"/>
            <a:ext cx="9088200" cy="3180900"/>
          </a:xfrm>
          <a:prstGeom prst="rect">
            <a:avLst/>
          </a:prstGeom>
          <a:noFill/>
          <a:ln>
            <a:noFill/>
          </a:ln>
        </p:spPr>
        <p:txBody>
          <a:bodyPr spcFirstLastPara="1" wrap="square" lIns="91425" tIns="91425" rIns="91425" bIns="91425" anchor="t" anchorCtr="0">
            <a:normAutofit/>
          </a:bodyPr>
          <a:lstStyle/>
          <a:p>
            <a:pPr marL="457200" lvl="0" indent="-349250" algn="l" rtl="0">
              <a:lnSpc>
                <a:spcPct val="115000"/>
              </a:lnSpc>
              <a:spcBef>
                <a:spcPts val="1200"/>
              </a:spcBef>
              <a:spcAft>
                <a:spcPts val="0"/>
              </a:spcAft>
              <a:buClr>
                <a:srgbClr val="000000"/>
              </a:buClr>
              <a:buSzPts val="1900"/>
              <a:buFont typeface="Nunito"/>
              <a:buAutoNum type="arabicPeriod"/>
            </a:pPr>
            <a:r>
              <a:rPr lang="en" sz="1900" b="1" dirty="0">
                <a:solidFill>
                  <a:srgbClr val="000000"/>
                </a:solidFill>
                <a:latin typeface="Nunito"/>
                <a:ea typeface="Nunito"/>
                <a:cs typeface="Nunito"/>
                <a:sym typeface="Nunito"/>
              </a:rPr>
              <a:t>Choosing</a:t>
            </a:r>
            <a:r>
              <a:rPr lang="en-ZA" sz="1900" b="1" dirty="0">
                <a:solidFill>
                  <a:srgbClr val="000000"/>
                </a:solidFill>
                <a:latin typeface="Nunito"/>
                <a:ea typeface="Nunito"/>
                <a:cs typeface="Nunito"/>
                <a:sym typeface="Nunito"/>
              </a:rPr>
              <a:t> a random word</a:t>
            </a:r>
            <a:endParaRPr sz="1900" b="1" dirty="0">
              <a:solidFill>
                <a:srgbClr val="000000"/>
              </a:solidFill>
              <a:latin typeface="Nunito"/>
              <a:ea typeface="Nunito"/>
              <a:cs typeface="Nunito"/>
              <a:sym typeface="Nunito"/>
            </a:endParaRPr>
          </a:p>
          <a:p>
            <a:pPr marL="457200" lvl="0" indent="-349250" algn="l" rtl="0">
              <a:lnSpc>
                <a:spcPct val="115000"/>
              </a:lnSpc>
              <a:spcBef>
                <a:spcPts val="0"/>
              </a:spcBef>
              <a:spcAft>
                <a:spcPts val="0"/>
              </a:spcAft>
              <a:buClr>
                <a:srgbClr val="000000"/>
              </a:buClr>
              <a:buSzPts val="1900"/>
              <a:buFont typeface="Nunito"/>
              <a:buAutoNum type="arabicPeriod"/>
            </a:pPr>
            <a:r>
              <a:rPr lang="en" sz="1900" b="1" dirty="0">
                <a:solidFill>
                  <a:srgbClr val="000000"/>
                </a:solidFill>
                <a:latin typeface="Nunito"/>
                <a:ea typeface="Nunito"/>
                <a:cs typeface="Nunito"/>
                <a:sym typeface="Nunito"/>
              </a:rPr>
              <a:t>Create the Answer Array</a:t>
            </a:r>
            <a:endParaRPr sz="1900" b="1" dirty="0">
              <a:solidFill>
                <a:srgbClr val="000000"/>
              </a:solidFill>
              <a:latin typeface="Nunito"/>
              <a:ea typeface="Nunito"/>
              <a:cs typeface="Nunito"/>
              <a:sym typeface="Nunito"/>
            </a:endParaRPr>
          </a:p>
          <a:p>
            <a:pPr marL="457200" lvl="0" indent="-349250" algn="l" rtl="0">
              <a:lnSpc>
                <a:spcPct val="115000"/>
              </a:lnSpc>
              <a:spcBef>
                <a:spcPts val="0"/>
              </a:spcBef>
              <a:spcAft>
                <a:spcPts val="0"/>
              </a:spcAft>
              <a:buClr>
                <a:srgbClr val="000000"/>
              </a:buClr>
              <a:buSzPts val="1900"/>
              <a:buFont typeface="Nunito"/>
              <a:buAutoNum type="arabicPeriod"/>
            </a:pPr>
            <a:r>
              <a:rPr lang="en" sz="1900" b="1" dirty="0">
                <a:solidFill>
                  <a:srgbClr val="000000"/>
                </a:solidFill>
                <a:latin typeface="Nunito"/>
                <a:ea typeface="Nunito"/>
                <a:cs typeface="Nunito"/>
                <a:sym typeface="Nunito"/>
              </a:rPr>
              <a:t>Code the game loop</a:t>
            </a:r>
            <a:endParaRPr sz="1900" b="1" dirty="0">
              <a:solidFill>
                <a:srgbClr val="000000"/>
              </a:solidFill>
              <a:latin typeface="Nunito"/>
              <a:ea typeface="Nunito"/>
              <a:cs typeface="Nunito"/>
              <a:sym typeface="Nunito"/>
            </a:endParaRPr>
          </a:p>
          <a:p>
            <a:pPr marL="457200" lvl="0" indent="-349250" algn="l" rtl="0">
              <a:lnSpc>
                <a:spcPct val="115000"/>
              </a:lnSpc>
              <a:spcBef>
                <a:spcPts val="0"/>
              </a:spcBef>
              <a:spcAft>
                <a:spcPts val="0"/>
              </a:spcAft>
              <a:buClr>
                <a:srgbClr val="000000"/>
              </a:buClr>
              <a:buSzPts val="1900"/>
              <a:buFont typeface="Nunito"/>
              <a:buAutoNum type="arabicPeriod"/>
            </a:pPr>
            <a:r>
              <a:rPr lang="en" sz="1900" b="1" dirty="0">
                <a:solidFill>
                  <a:srgbClr val="000000"/>
                </a:solidFill>
                <a:latin typeface="Nunito"/>
                <a:ea typeface="Nunito"/>
                <a:cs typeface="Nunito"/>
                <a:sym typeface="Nunito"/>
              </a:rPr>
              <a:t>Show the Player’s Progress</a:t>
            </a:r>
            <a:endParaRPr sz="1900" b="1" dirty="0">
              <a:solidFill>
                <a:srgbClr val="000000"/>
              </a:solidFill>
              <a:latin typeface="Nunito"/>
              <a:ea typeface="Nunito"/>
              <a:cs typeface="Nunito"/>
              <a:sym typeface="Nunito"/>
            </a:endParaRPr>
          </a:p>
          <a:p>
            <a:pPr marL="457200" lvl="0" indent="-349250" algn="l" rtl="0">
              <a:lnSpc>
                <a:spcPct val="115000"/>
              </a:lnSpc>
              <a:spcBef>
                <a:spcPts val="0"/>
              </a:spcBef>
              <a:spcAft>
                <a:spcPts val="0"/>
              </a:spcAft>
              <a:buClr>
                <a:srgbClr val="000000"/>
              </a:buClr>
              <a:buSzPts val="1900"/>
              <a:buFont typeface="Nunito"/>
              <a:buAutoNum type="arabicPeriod"/>
            </a:pPr>
            <a:r>
              <a:rPr lang="en" sz="1900" b="1" dirty="0">
                <a:solidFill>
                  <a:srgbClr val="000000"/>
                </a:solidFill>
                <a:latin typeface="Nunito"/>
                <a:ea typeface="Nunito"/>
                <a:cs typeface="Nunito"/>
                <a:sym typeface="Nunito"/>
              </a:rPr>
              <a:t>Handle the Player’s Input</a:t>
            </a:r>
            <a:endParaRPr sz="1900" b="1" dirty="0">
              <a:solidFill>
                <a:srgbClr val="000000"/>
              </a:solidFill>
              <a:latin typeface="Nunito"/>
              <a:ea typeface="Nunito"/>
              <a:cs typeface="Nunito"/>
              <a:sym typeface="Nunito"/>
            </a:endParaRPr>
          </a:p>
          <a:p>
            <a:pPr marL="457200" lvl="0" indent="-349250" algn="l" rtl="0">
              <a:lnSpc>
                <a:spcPct val="115000"/>
              </a:lnSpc>
              <a:spcBef>
                <a:spcPts val="0"/>
              </a:spcBef>
              <a:spcAft>
                <a:spcPts val="0"/>
              </a:spcAft>
              <a:buClr>
                <a:srgbClr val="000000"/>
              </a:buClr>
              <a:buSzPts val="1900"/>
              <a:buFont typeface="Nunito"/>
              <a:buAutoNum type="arabicPeriod"/>
            </a:pPr>
            <a:r>
              <a:rPr lang="en" sz="1900" b="1" dirty="0">
                <a:solidFill>
                  <a:srgbClr val="000000"/>
                </a:solidFill>
                <a:latin typeface="Nunito"/>
                <a:ea typeface="Nunito"/>
                <a:cs typeface="Nunito"/>
                <a:sym typeface="Nunito"/>
              </a:rPr>
              <a:t>Update the Game State</a:t>
            </a:r>
            <a:endParaRPr sz="1900" b="1" dirty="0">
              <a:solidFill>
                <a:srgbClr val="000000"/>
              </a:solidFill>
              <a:latin typeface="Nunito"/>
              <a:ea typeface="Nunito"/>
              <a:cs typeface="Nunito"/>
              <a:sym typeface="Nunito"/>
            </a:endParaRPr>
          </a:p>
          <a:p>
            <a:pPr marL="457200" lvl="0" indent="-349250" algn="l" rtl="0">
              <a:lnSpc>
                <a:spcPct val="115000"/>
              </a:lnSpc>
              <a:spcBef>
                <a:spcPts val="0"/>
              </a:spcBef>
              <a:spcAft>
                <a:spcPts val="0"/>
              </a:spcAft>
              <a:buClr>
                <a:srgbClr val="000000"/>
              </a:buClr>
              <a:buSzPts val="1900"/>
              <a:buFont typeface="Nunito"/>
              <a:buAutoNum type="arabicPeriod"/>
            </a:pPr>
            <a:r>
              <a:rPr lang="en" sz="1900" b="1" dirty="0">
                <a:solidFill>
                  <a:srgbClr val="000000"/>
                </a:solidFill>
                <a:latin typeface="Nunito"/>
                <a:ea typeface="Nunito"/>
                <a:cs typeface="Nunito"/>
                <a:sym typeface="Nunito"/>
              </a:rPr>
              <a:t>End the game by Show the answer and congratulate the player</a:t>
            </a:r>
            <a:br>
              <a:rPr lang="en" sz="1900" b="1" dirty="0">
                <a:solidFill>
                  <a:srgbClr val="000000"/>
                </a:solidFill>
                <a:latin typeface="Nunito"/>
                <a:ea typeface="Nunito"/>
                <a:cs typeface="Nunito"/>
                <a:sym typeface="Nunito"/>
              </a:rPr>
            </a:br>
            <a:r>
              <a:rPr lang="en-ZA" sz="1900" b="1" dirty="0">
                <a:solidFill>
                  <a:srgbClr val="A64D79"/>
                </a:solidFill>
                <a:latin typeface="Nunito"/>
                <a:ea typeface="Nunito"/>
                <a:cs typeface="Nunito"/>
                <a:sym typeface="Nunito"/>
              </a:rPr>
              <a:t>Game code(B-p145 - 147 &amp; L-p118 - 120)</a:t>
            </a:r>
            <a:endParaRPr sz="1900" b="1" dirty="0">
              <a:solidFill>
                <a:srgbClr val="A64D79"/>
              </a:solidFill>
              <a:latin typeface="Nunito"/>
              <a:ea typeface="Nunito"/>
              <a:cs typeface="Nunito"/>
              <a:sym typeface="Nunito"/>
            </a:endParaRPr>
          </a:p>
        </p:txBody>
      </p:sp>
      <p:pic>
        <p:nvPicPr>
          <p:cNvPr id="133" name="Google Shape;133;p20"/>
          <p:cNvPicPr preferRelativeResize="0"/>
          <p:nvPr/>
        </p:nvPicPr>
        <p:blipFill>
          <a:blip r:embed="rId3">
            <a:alphaModFix/>
          </a:blip>
          <a:stretch>
            <a:fillRect/>
          </a:stretch>
        </p:blipFill>
        <p:spPr>
          <a:xfrm>
            <a:off x="4730175" y="771750"/>
            <a:ext cx="4202151" cy="1945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1"/>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3000"/>
              <a:buFont typeface="Arial"/>
              <a:buNone/>
            </a:pPr>
            <a:r>
              <a:rPr lang="en" sz="3000" b="1" i="0" u="none" strike="noStrike" cap="none">
                <a:solidFill>
                  <a:srgbClr val="FFFFFF"/>
                </a:solidFill>
                <a:latin typeface="Nunito"/>
                <a:ea typeface="Nunito"/>
                <a:cs typeface="Nunito"/>
                <a:sym typeface="Nunito"/>
              </a:rPr>
              <a:t>Practice Exercises</a:t>
            </a:r>
            <a:endParaRPr sz="3000" b="1" i="0" u="sng" strike="noStrike" cap="none">
              <a:solidFill>
                <a:srgbClr val="FFFFFF"/>
              </a:solidFill>
              <a:latin typeface="Nunito"/>
              <a:ea typeface="Nunito"/>
              <a:cs typeface="Nunito"/>
              <a:sym typeface="Nunito"/>
            </a:endParaRPr>
          </a:p>
        </p:txBody>
      </p:sp>
      <p:sp>
        <p:nvSpPr>
          <p:cNvPr id="139" name="Google Shape;139;p21"/>
          <p:cNvSpPr txBox="1">
            <a:spLocks noGrp="1"/>
          </p:cNvSpPr>
          <p:nvPr>
            <p:ph type="title"/>
          </p:nvPr>
        </p:nvSpPr>
        <p:spPr>
          <a:xfrm>
            <a:off x="0" y="688500"/>
            <a:ext cx="9144000" cy="4203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3000"/>
              <a:buNone/>
            </a:pPr>
            <a:r>
              <a:rPr lang="en" sz="1900" b="1">
                <a:solidFill>
                  <a:srgbClr val="000000"/>
                </a:solidFill>
                <a:latin typeface="Nunito"/>
                <a:ea typeface="Nunito"/>
                <a:cs typeface="Nunito"/>
                <a:sym typeface="Nunito"/>
              </a:rPr>
              <a:t>Do the Programming Challenges then upload to github.</a:t>
            </a:r>
            <a:endParaRPr sz="1900" b="1">
              <a:solidFill>
                <a:srgbClr val="000000"/>
              </a:solidFill>
              <a:latin typeface="Nunito"/>
              <a:ea typeface="Nunito"/>
              <a:cs typeface="Nunito"/>
              <a:sym typeface="Nunito"/>
            </a:endParaRPr>
          </a:p>
          <a:p>
            <a:pPr marL="457200" lvl="0" indent="-349250" algn="l" rtl="0">
              <a:lnSpc>
                <a:spcPct val="115000"/>
              </a:lnSpc>
              <a:spcBef>
                <a:spcPts val="0"/>
              </a:spcBef>
              <a:spcAft>
                <a:spcPts val="0"/>
              </a:spcAft>
              <a:buClr>
                <a:srgbClr val="000000"/>
              </a:buClr>
              <a:buSzPts val="1900"/>
              <a:buFont typeface="Nunito"/>
              <a:buChar char="●"/>
            </a:pPr>
            <a:r>
              <a:rPr lang="en" sz="1900" b="1">
                <a:solidFill>
                  <a:srgbClr val="000000"/>
                </a:solidFill>
                <a:latin typeface="Nunito"/>
                <a:ea typeface="Nunito"/>
                <a:cs typeface="Nunito"/>
                <a:sym typeface="Nunito"/>
              </a:rPr>
              <a:t>Page (B-148 &amp; L-121)</a:t>
            </a:r>
            <a:endParaRPr sz="1400" b="1">
              <a:solidFill>
                <a:srgbClr val="000000"/>
              </a:solidFill>
              <a:latin typeface="Nunito"/>
              <a:ea typeface="Nunito"/>
              <a:cs typeface="Nunito"/>
              <a:sym typeface="Nunito"/>
            </a:endParaRPr>
          </a:p>
          <a:p>
            <a:pPr marL="0" lvl="0" indent="0" algn="l" rtl="0">
              <a:lnSpc>
                <a:spcPct val="115000"/>
              </a:lnSpc>
              <a:spcBef>
                <a:spcPts val="0"/>
              </a:spcBef>
              <a:spcAft>
                <a:spcPts val="0"/>
              </a:spcAft>
              <a:buNone/>
            </a:pPr>
            <a:endParaRPr sz="1900" b="1">
              <a:solidFill>
                <a:srgbClr val="000000"/>
              </a:solidFill>
              <a:latin typeface="Nunito"/>
              <a:ea typeface="Nunito"/>
              <a:cs typeface="Nunito"/>
              <a:sym typeface="Nunito"/>
            </a:endParaRPr>
          </a:p>
        </p:txBody>
      </p:sp>
      <p:pic>
        <p:nvPicPr>
          <p:cNvPr id="140" name="Google Shape;140;p21"/>
          <p:cNvPicPr preferRelativeResize="0"/>
          <p:nvPr/>
        </p:nvPicPr>
        <p:blipFill rotWithShape="1">
          <a:blip r:embed="rId3">
            <a:alphaModFix/>
          </a:blip>
          <a:srcRect/>
          <a:stretch/>
        </p:blipFill>
        <p:spPr>
          <a:xfrm>
            <a:off x="4617424" y="1301536"/>
            <a:ext cx="2655900" cy="2540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2"/>
          <p:cNvSpPr txBox="1">
            <a:spLocks noGrp="1"/>
          </p:cNvSpPr>
          <p:nvPr>
            <p:ph type="title"/>
          </p:nvPr>
        </p:nvSpPr>
        <p:spPr>
          <a:xfrm>
            <a:off x="240600" y="989650"/>
            <a:ext cx="5818500" cy="40908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800"/>
              <a:buNone/>
            </a:pPr>
            <a:r>
              <a:rPr lang="en" sz="6000" b="1">
                <a:solidFill>
                  <a:srgbClr val="000000"/>
                </a:solidFill>
                <a:latin typeface="Playfair Display"/>
                <a:ea typeface="Playfair Display"/>
                <a:cs typeface="Playfair Display"/>
                <a:sym typeface="Playfair Display"/>
              </a:rPr>
              <a:t>End Of Chapter 7</a:t>
            </a:r>
            <a:endParaRPr sz="6000" b="1">
              <a:solidFill>
                <a:srgbClr val="000000"/>
              </a:solidFill>
              <a:latin typeface="Playfair Display"/>
              <a:ea typeface="Playfair Display"/>
              <a:cs typeface="Playfair Display"/>
              <a:sym typeface="Playfair Display"/>
            </a:endParaRPr>
          </a:p>
        </p:txBody>
      </p:sp>
      <p:pic>
        <p:nvPicPr>
          <p:cNvPr id="146" name="Google Shape;146;p22"/>
          <p:cNvPicPr preferRelativeResize="0"/>
          <p:nvPr/>
        </p:nvPicPr>
        <p:blipFill rotWithShape="1">
          <a:blip r:embed="rId3">
            <a:alphaModFix/>
          </a:blip>
          <a:srcRect/>
          <a:stretch/>
        </p:blipFill>
        <p:spPr>
          <a:xfrm>
            <a:off x="6059100" y="0"/>
            <a:ext cx="3084900" cy="2136575"/>
          </a:xfrm>
          <a:prstGeom prst="rect">
            <a:avLst/>
          </a:prstGeom>
          <a:noFill/>
          <a:ln>
            <a:noFill/>
          </a:ln>
        </p:spPr>
      </p:pic>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394</Words>
  <Application>Microsoft Office PowerPoint</Application>
  <PresentationFormat>On-screen Show (16:9)</PresentationFormat>
  <Paragraphs>41</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Roboto</vt:lpstr>
      <vt:lpstr>Arial</vt:lpstr>
      <vt:lpstr>Playfair Display</vt:lpstr>
      <vt:lpstr>Nunito</vt:lpstr>
      <vt:lpstr>Geometric</vt:lpstr>
      <vt:lpstr>Intro To Programming JavaScript</vt:lpstr>
      <vt:lpstr>Brief Summary Of Chapter 7 What is a Prompt Using The Confirm Function What is an Alert Using Pseudocode Tracking the State Designing Your Game</vt:lpstr>
      <vt:lpstr>A prompt is a message or box that asks the user for input or action. It's used to guide users, collect information, confirm choices, and improve the overall experience.    EXAMPLE:  (B-p134 &amp; L-p107)</vt:lpstr>
      <vt:lpstr>confirm() shows a message with "OK" and "Cancel" buttons. It returns true if the user clicks "OK" and false if they click "Cancel". It's used to confirm actions like deleting or submitting.  EXAMPLE:   (B-p135 &amp; L-p108)</vt:lpstr>
      <vt:lpstr>An alert is a message that pops up to tell users something important, like an error or update. It can be used to warn, inform, or get attention.  EXAMPLE:   (B-p136 &amp; L-p109)</vt:lpstr>
      <vt:lpstr>Pseudocode is used to outline the logic of an algorithm in a way that is not specific to any programming language. It helps developers plan and visualize the steps of a program without focusing on the details of coding syntax. This makes it easier to design and discuss solutions before translating them into actual code. </vt:lpstr>
      <vt:lpstr>Tracking the state in Hangman involves keeping an array of blanks that represents the letters in the secret word. As the player guesses letters, the array is updated to show correct guesses, replacing blanks with the guessed letters. This helps display the player’s progress in revealing the word.   EXAMPLE:   (B-p139 &amp; L-p112) If the secret word is "fish" the initial array of blanks is ["_", "_", "_", "_"].</vt:lpstr>
      <vt:lpstr>Choosing a random word Create the Answer Array Code the game loop Show the Player’s Progress Handle the Player’s Input Update the Game State End the game by Show the answer and congratulate the player Game code(B-p145 - 147 &amp; L-p118 - 120)</vt:lpstr>
      <vt:lpstr>Do the Programming Challenges then upload to github. Page (B-148 &amp; L-121) </vt:lpstr>
      <vt:lpstr>End Of Chapter 7</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Programming JavaScript</dc:title>
  <cp:lastModifiedBy>ST MARY'S P/S</cp:lastModifiedBy>
  <cp:revision>4</cp:revision>
  <dcterms:modified xsi:type="dcterms:W3CDTF">2025-07-01T14:10:43Z</dcterms:modified>
</cp:coreProperties>
</file>